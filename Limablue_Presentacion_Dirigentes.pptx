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Citas</c:v>
                </c:pt>
              </c:strCache>
            </c:strRef>
          </c:tx>
          <c:spPr>
            <a:solidFill>
              <a:srgbClr val="0057D9"/>
            </a:solidFill>
            <a:effectLst/>
          </c:spPr>
          <c:invertIfNegative val="0"/>
          <c:dLbls>
            <c:numFmt formatCode="#,##0" sourceLinked="0"/>
            <c:txPr>
              <a:bodyPr/>
              <a:lstStyle/>
              <a:p>
                <a:pPr>
                  <a:defRPr b="1" i="0" strike="noStrike" sz="1100" u="none">
                    <a:solidFill>
                      <a:srgbClr val="0B2F5E"/>
                    </a:solidFill>
                    <a:latin typeface="Arial"/>
                  </a:defRPr>
                </a:pPr>
              </a:p>
            </c:txPr>
            <c:showLegendKey val="0"/>
            <c:showVal val="1"/>
            <c:showCatName val="0"/>
            <c:showSerName val="0"/>
            <c:showPercent val="0"/>
            <c:showBubbleSize val="0"/>
            <c:showLeaderLines val="0"/>
          </c:dLbls>
          <c:cat>
            <c:multiLvlStrRef>
              <c:f>Sheet1!$A$2:$A$6</c:f>
              <c:multiLvlStrCache>
                <c:ptCount val="5"/>
                <c:lvl>
                  <c:pt idx="0">
                    <c:v>Paz Soldán</c:v>
                  </c:pt>
                  <c:pt idx="1">
                    <c:v>Lince</c:v>
                  </c:pt>
                  <c:pt idx="2">
                    <c:v>San Miguel</c:v>
                  </c:pt>
                  <c:pt idx="3">
                    <c:v>Los Olivos</c:v>
                  </c:pt>
                  <c:pt idx="4">
                    <c:v>One</c:v>
                  </c:pt>
                </c:lvl>
              </c:multiLvlStrCache>
            </c:multiLvlStrRef>
          </c:cat>
          <c:val>
            <c:numRef>
              <c:f>Sheet1!$B$2:$B$6</c:f>
              <c:numCache>
                <c:formatCode>General</c:formatCode>
                <c:ptCount val="5"/>
                <c:pt idx="0">
                  <c:v>132</c:v>
                </c:pt>
                <c:pt idx="1">
                  <c:v>120</c:v>
                </c:pt>
                <c:pt idx="2">
                  <c:v>83</c:v>
                </c:pt>
                <c:pt idx="3">
                  <c:v>81</c:v>
                </c:pt>
                <c:pt idx="4">
                  <c:v>77</c:v>
                </c:pt>
              </c:numCache>
            </c:numRef>
          </c:val>
        </c:ser>
        <c:dLbls>
          <c:numFmt formatCode="#,##0" sourceLinked="0"/>
          <c:txPr>
            <a:bodyPr/>
            <a:lstStyle/>
            <a:p>
              <a:pPr>
                <a:defRPr b="1" i="0" strike="noStrike" sz="1100" u="none">
                  <a:solidFill>
                    <a:srgbClr val="0B2F5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22E"/>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(30 s). "Les voy a mostrar el nuevo sistema que reemplaza el programa de escritorio que usábamos hace 14 años. Primero se los explico con diapositivas, unos 15 minutos, y al final entramos al sistema en vivo para que lo vean funcionando." Presentarte y agradecer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 el mapa de la reunión para que sepan qué esperar (30 s). Recomendación: diapositivas primero para dar contexto, y recién después la demo — así cuando vean el sistema ya entienden qué están mirando. Deja las preguntas para el final, o dilo: "si surge una duda puntual, la anotamos y la vemos al cerrar".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(1 min): es una plataforma web, no un programa instalado en una sola PC. Recalca "a la medida": las validaciones y flujos son los de Limablue, no los de un sistema comprado. Menciona el tiempo real: si una recepcionista agenda, las demás lo ven al instante — se acabaron los choques por trabajar en archivos separados.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"porqué" para la dirección (1–2 min). Habla de dolores concretos del sistema viejo y cómo el nuevo los resuelve. Los tres mensajes que más pesan arriba: control (auditoría), confiabilidad (validaciones, sin dobles reservas) e información para decidir (reportes). No entres en tecnicismos aquí; es el argumento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aérea (1 min). No leas las 10 cajas una por una; di "el sistema cubre desde la agenda hasta los reportes, pasando por pacientes, servicios, promociones, comunicaciones y seguridad". Menciona que vas a profundizar en las más importantes y que el resto lo verán en la demo. Sirve de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pantalla que más usarán en recepción (1–2 min). Enfatiza rapidez: agendar es un clic sobre el hueco. El color evita preguntar "¿este ya llegó?". El arrastrar-soltar reemplaza borrar y volver a crear. Diles que esto mismo lo verán en vivo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que nada se pierde ni queda "al aire" (1–2 min). Cada cita tiene un estado y un responsable. Las notas quedan como registro. Al reprogramar, el sistema no deja elegir una hora imposible. Conecta con la siguiente sección: "y para que todo esto funcione sin errores, el momento de CREAR la cita tiene muchísimas validaciones".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"bisagra" para presumir la profundidad sin abrumar (1 min). El mensaje clave: el usuario ve algo simple, pero por detrás hay muchas reglas que evitan errores. Usa la frase del pie. Las dos siguientes diapositivas muestran ejemplos concretos; no hace falta leerlas todas, elige 3-4 que más duelan en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1: validaciones "del formulario" (1–2 min). No leas las 12; elige 3-4 que la dirección reconozca como problemas típicos: sede cerrada, profesional que no labora, doble reserva y paciente duplicado. Marca que cada palomita "→" dice el error que evita. Cierra: "y estas son solo las del formulario; ahora vienen las reglas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2: el valor económico y de integridad (1–2 min). Aquí están los mensajes que más importan a la dirección: no se regalan descuentos indebidos, no se exceden las sesiones de una membresía, el precio queda registrado para caja, y es IMPOSIBLE reservar dos veces el mismo espacio (esto último es un diferenciador fuerte). Remátalo: "todo esto pasa solo, la recepcionista no tiene que acordarse".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Foco en velocidad y datos limpios (1 min). Con el DNI, la recepción no tipea todo. El anti-duplicado evita tener el mismo paciente tres veces. Las alertas ayudan a decidir (p. ej. pedir confirmación a quien suele faltar). El canal de captación alimenta el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motor comercial (1 min). Explica que el sistema no solo agenda: controla cuántas sesiones quedan, imprime el contrato de la membresía, y da un reporte de lo vendido. Todo conectado con la cita, así el saldo baja solo cuando el paciente asiste.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con control (1 min). El punto para la dirección: las promociones tienen reglas y cupos, así no se descontrolan; y hay un reporte para medir si funcionaron. Ejemplo: "50% en baropodometría, solo por llamada, martes y miércoles, 100 cupos".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rápido (1 min). No profundices; di que "son las herramientas del día a día que mantienen la agenda ordenada": horarios, almuerzos, mover personal entre sedes, etc. Si preguntan por alguna, la abres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slide favorito de la dirección (1–2 min). Control total: permisos por rol y, sobre todo, auditoría. "Si algo cambió, sabemos quién y cuándo." Esto da tranquilidad y responsabilidad. Muestra la captura del registro de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Reduce ausentismo y trabajo manual (1 min). El paciente recibe su correo y recordatorio solo; puede confirmar, cancelar o pedir reprogramar por WhatsApp. Los videos educan/fidelizan. Mensaje: menos no-shows y menos llamadas de recepción.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decidir con números, no por intuición (1 min). Muestra el gráfico como ejemplo: qué sede tiene más carga. Menciona que se puede ver por servicio, canal (de dónde vienen), y medir promociones. Esto ayuda a asignar personal y evaluar campañas.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no está aislado (45 s). Se conecta con RENIEC para el DNI, con el correo, con el calendario de los médicos, y trajo el historial viejo (Genexis). Mensaje: no se perdió información y conversa con las herramientas que ya 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Tranquilidad para la dirección (1 min). Traduce lo técnico a confianza: los datos están protegidos, cada quien accede a lo suyo, todo queda registrado y hay respaldo cifrado cada noche. Si preguntan por mejoras futuras, tienes la lista de "puntos a reforzar"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 negocio (1 min). Resume en beneficios, no en funciones. Estos seis puntos son el "para qué". Es la diapositiva que la dirección debe recordar. Haz una pausa aquí antes de pasar a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 la DEMO (10–15 min). Sigue estos 5 pasos en orden; es una historia: llega un paciente → lo agendas → lo atiendes → revisas su ficha → cierras con un reporte. Consejos: ten el sistema ya abierto y logueado, usa un paciente de prueba, y si algo falla, vuelve a las diapositivas. No improvises de más; el recorrido corto se ve sólido.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(5–10 min). Repite la idea fuerza: sistema propio, a la medida, escalable. Propón próximos pasos concretos para que la reunión termine en una decisión. Abre a preguntas. Ten a mano el informe Word por si piden detalle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G">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D3A"/>
        </a:solidFill>
      </p:bgPr>
    </p:bg>
    <p:spTree>
      <p:nvGrpSpPr>
        <p:cNvPr id="1" name=""/>
        <p:cNvGrpSpPr/>
        <p:nvPr/>
      </p:nvGrpSpPr>
      <p:grpSpPr>
        <a:xfrm>
          <a:off x="0" y="0"/>
          <a:ext cx="0" cy="0"/>
          <a:chOff x="0" y="0"/>
          <a:chExt cx="0" cy="0"/>
        </a:xfrm>
      </p:grpSpPr>
      <p:sp>
        <p:nvSpPr>
          <p:cNvPr id="2" name="Shape 0"/>
          <p:cNvSpPr/>
          <p:nvPr/>
        </p:nvSpPr>
        <p:spPr>
          <a:xfrm>
            <a:off x="9052560" y="-1737360"/>
            <a:ext cx="4937760" cy="4937760"/>
          </a:xfrm>
          <a:prstGeom prst="ellipse">
            <a:avLst/>
          </a:prstGeom>
          <a:solidFill>
            <a:srgbClr val="0B2F5E"/>
          </a:solidFill>
          <a:ln/>
        </p:spPr>
      </p:sp>
      <p:sp>
        <p:nvSpPr>
          <p:cNvPr id="3" name="Shape 1"/>
          <p:cNvSpPr/>
          <p:nvPr/>
        </p:nvSpPr>
        <p:spPr>
          <a:xfrm>
            <a:off x="10424160" y="4297680"/>
            <a:ext cx="3108960" cy="3108960"/>
          </a:xfrm>
          <a:prstGeom prst="ellipse">
            <a:avLst/>
          </a:prstGeom>
          <a:solidFill>
            <a:srgbClr val="0E2A52"/>
          </a:solidFill>
          <a:ln/>
        </p:spPr>
      </p:sp>
      <p:sp>
        <p:nvSpPr>
          <p:cNvPr id="4" name="Text 2"/>
          <p:cNvSpPr/>
          <p:nvPr/>
        </p:nvSpPr>
        <p:spPr>
          <a:xfrm>
            <a:off x="731520" y="1371600"/>
            <a:ext cx="8229600" cy="365760"/>
          </a:xfrm>
          <a:prstGeom prst="rect">
            <a:avLst/>
          </a:prstGeom>
          <a:noFill/>
          <a:ln/>
        </p:spPr>
        <p:txBody>
          <a:bodyPr wrap="square" lIns="0" tIns="0" rIns="0" bIns="0" rtlCol="0" anchor="ctr"/>
          <a:lstStyle/>
          <a:p>
            <a:pPr indent="0" marL="0">
              <a:buNone/>
            </a:pPr>
            <a:r>
              <a:rPr lang="en-US" sz="1500" b="1" spc="300" kern="0" dirty="0">
                <a:solidFill>
                  <a:srgbClr val="7FB0FF"/>
                </a:solidFill>
                <a:latin typeface="Calibri" pitchFamily="34" charset="0"/>
                <a:ea typeface="Calibri" pitchFamily="34" charset="-122"/>
                <a:cs typeface="Calibri" pitchFamily="34" charset="-120"/>
              </a:rPr>
              <a:t>LIMABLUE · AGENDA</a:t>
            </a:r>
            <a:endParaRPr lang="en-US" sz="1500" dirty="0"/>
          </a:p>
        </p:txBody>
      </p:sp>
      <p:sp>
        <p:nvSpPr>
          <p:cNvPr id="5" name="Text 3"/>
          <p:cNvSpPr/>
          <p:nvPr/>
        </p:nvSpPr>
        <p:spPr>
          <a:xfrm>
            <a:off x="731520" y="1828800"/>
            <a:ext cx="10789920"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El nuevo sistema de gestión de citas</a:t>
            </a:r>
            <a:endParaRPr lang="en-US" sz="4400" dirty="0"/>
          </a:p>
        </p:txBody>
      </p:sp>
      <p:sp>
        <p:nvSpPr>
          <p:cNvPr id="6" name="Text 4"/>
          <p:cNvSpPr/>
          <p:nvPr/>
        </p:nvSpPr>
        <p:spPr>
          <a:xfrm>
            <a:off x="749808" y="3200400"/>
            <a:ext cx="10058400" cy="548640"/>
          </a:xfrm>
          <a:prstGeom prst="rect">
            <a:avLst/>
          </a:prstGeom>
          <a:noFill/>
          <a:ln/>
        </p:spPr>
        <p:txBody>
          <a:bodyPr wrap="square" lIns="0" tIns="0" rIns="0" bIns="0" rtlCol="0" anchor="ctr"/>
          <a:lstStyle/>
          <a:p>
            <a:pPr indent="0" marL="0">
              <a:buNone/>
            </a:pPr>
            <a:r>
              <a:rPr lang="en-US" sz="1900" dirty="0">
                <a:solidFill>
                  <a:srgbClr val="C9D8EE"/>
                </a:solidFill>
                <a:latin typeface="Calibri" pitchFamily="34" charset="0"/>
                <a:ea typeface="Calibri" pitchFamily="34" charset="-122"/>
                <a:cs typeface="Calibri" pitchFamily="34" charset="-120"/>
              </a:rPr>
              <a:t>Presentación a la dirección · Qué es, qué hace y por qué importa</a:t>
            </a:r>
            <a:endParaRPr lang="en-US" sz="1900" dirty="0"/>
          </a:p>
        </p:txBody>
      </p:sp>
      <p:sp>
        <p:nvSpPr>
          <p:cNvPr id="7" name="Text 5"/>
          <p:cNvSpPr/>
          <p:nvPr/>
        </p:nvSpPr>
        <p:spPr>
          <a:xfrm>
            <a:off x="749808" y="5760720"/>
            <a:ext cx="10058400" cy="365760"/>
          </a:xfrm>
          <a:prstGeom prst="rect">
            <a:avLst/>
          </a:prstGeom>
          <a:noFill/>
          <a:ln/>
        </p:spPr>
        <p:txBody>
          <a:bodyPr wrap="square" lIns="0" tIns="0" rIns="0" bIns="0" rtlCol="0" anchor="ctr"/>
          <a:lstStyle/>
          <a:p>
            <a:pPr indent="0" marL="0">
              <a:buNone/>
            </a:pPr>
            <a:r>
              <a:rPr lang="en-US" sz="1300" dirty="0">
                <a:solidFill>
                  <a:srgbClr val="9DB4D4"/>
                </a:solidFill>
                <a:latin typeface="Calibri" pitchFamily="34" charset="0"/>
                <a:ea typeface="Calibri" pitchFamily="34" charset="-122"/>
                <a:cs typeface="Calibri" pitchFamily="34" charset="-120"/>
              </a:rPr>
              <a:t>5 sedes · ~400 citas al día · 40 podólogos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CÓMO SERÁ LA SESIÓN</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Agenda de hoy</a:t>
            </a:r>
            <a:endParaRPr lang="en-US" sz="2900" dirty="0"/>
          </a:p>
        </p:txBody>
      </p:sp>
      <p:sp>
        <p:nvSpPr>
          <p:cNvPr id="4" name="Shape 2"/>
          <p:cNvSpPr/>
          <p:nvPr/>
        </p:nvSpPr>
        <p:spPr>
          <a:xfrm>
            <a:off x="640080" y="1828800"/>
            <a:ext cx="10881360" cy="1143000"/>
          </a:xfrm>
          <a:prstGeom prst="roundRect">
            <a:avLst>
              <a:gd name="adj" fmla="val 7200"/>
            </a:avLst>
          </a:prstGeom>
          <a:solidFill>
            <a:srgbClr val="EDF3FB"/>
          </a:solidFill>
          <a:ln/>
        </p:spPr>
      </p:sp>
      <p:sp>
        <p:nvSpPr>
          <p:cNvPr id="5" name="Shape 3"/>
          <p:cNvSpPr/>
          <p:nvPr/>
        </p:nvSpPr>
        <p:spPr>
          <a:xfrm>
            <a:off x="914400" y="2121408"/>
            <a:ext cx="566928" cy="566928"/>
          </a:xfrm>
          <a:prstGeom prst="ellipse">
            <a:avLst/>
          </a:prstGeom>
          <a:solidFill>
            <a:srgbClr val="0057D9"/>
          </a:solidFill>
          <a:ln/>
        </p:spPr>
      </p:sp>
      <p:sp>
        <p:nvSpPr>
          <p:cNvPr id="6" name="Text 4"/>
          <p:cNvSpPr/>
          <p:nvPr/>
        </p:nvSpPr>
        <p:spPr>
          <a:xfrm>
            <a:off x="914400" y="21214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691640" y="2011680"/>
            <a:ext cx="9509760" cy="411480"/>
          </a:xfrm>
          <a:prstGeom prst="rect">
            <a:avLst/>
          </a:prstGeom>
          <a:noFill/>
          <a:ln/>
        </p:spPr>
        <p:txBody>
          <a:bodyPr wrap="square" lIns="0" tIns="0" rIns="0" bIns="0" rtlCol="0" anchor="ctr"/>
          <a:lstStyle/>
          <a:p>
            <a:pPr indent="0" marL="0">
              <a:buNone/>
            </a:pPr>
            <a:r>
              <a:rPr lang="en-US" sz="1700" b="1" dirty="0">
                <a:solidFill>
                  <a:srgbClr val="0B2F5E"/>
                </a:solidFill>
                <a:latin typeface="Calibri" pitchFamily="34" charset="0"/>
                <a:ea typeface="Calibri" pitchFamily="34" charset="-122"/>
                <a:cs typeface="Calibri" pitchFamily="34" charset="-120"/>
              </a:rPr>
              <a:t>Presentación (15 min)</a:t>
            </a:r>
            <a:endParaRPr lang="en-US" sz="1700" dirty="0"/>
          </a:p>
        </p:txBody>
      </p:sp>
      <p:sp>
        <p:nvSpPr>
          <p:cNvPr id="8" name="Text 6"/>
          <p:cNvSpPr/>
          <p:nvPr/>
        </p:nvSpPr>
        <p:spPr>
          <a:xfrm>
            <a:off x="1691640" y="2432304"/>
            <a:ext cx="9509760" cy="41148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Qué es el sistema, sus módulos y el valor para la clínica.</a:t>
            </a:r>
            <a:endParaRPr lang="en-US" sz="1300" dirty="0"/>
          </a:p>
        </p:txBody>
      </p:sp>
      <p:sp>
        <p:nvSpPr>
          <p:cNvPr id="9" name="Shape 7"/>
          <p:cNvSpPr/>
          <p:nvPr/>
        </p:nvSpPr>
        <p:spPr>
          <a:xfrm>
            <a:off x="640080" y="3200400"/>
            <a:ext cx="10881360" cy="1143000"/>
          </a:xfrm>
          <a:prstGeom prst="roundRect">
            <a:avLst>
              <a:gd name="adj" fmla="val 7200"/>
            </a:avLst>
          </a:prstGeom>
          <a:solidFill>
            <a:srgbClr val="EDF3FB"/>
          </a:solidFill>
          <a:ln/>
        </p:spPr>
      </p:sp>
      <p:sp>
        <p:nvSpPr>
          <p:cNvPr id="10" name="Shape 8"/>
          <p:cNvSpPr/>
          <p:nvPr/>
        </p:nvSpPr>
        <p:spPr>
          <a:xfrm>
            <a:off x="914400" y="3493008"/>
            <a:ext cx="566928" cy="566928"/>
          </a:xfrm>
          <a:prstGeom prst="ellipse">
            <a:avLst/>
          </a:prstGeom>
          <a:solidFill>
            <a:srgbClr val="0B2F5E"/>
          </a:solidFill>
          <a:ln/>
        </p:spPr>
      </p:sp>
      <p:sp>
        <p:nvSpPr>
          <p:cNvPr id="11" name="Text 9"/>
          <p:cNvSpPr/>
          <p:nvPr/>
        </p:nvSpPr>
        <p:spPr>
          <a:xfrm>
            <a:off x="914400" y="34930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691640" y="3383280"/>
            <a:ext cx="9509760" cy="411480"/>
          </a:xfrm>
          <a:prstGeom prst="rect">
            <a:avLst/>
          </a:prstGeom>
          <a:noFill/>
          <a:ln/>
        </p:spPr>
        <p:txBody>
          <a:bodyPr wrap="square" lIns="0" tIns="0" rIns="0" bIns="0" rtlCol="0" anchor="ctr"/>
          <a:lstStyle/>
          <a:p>
            <a:pPr indent="0" marL="0">
              <a:buNone/>
            </a:pPr>
            <a:r>
              <a:rPr lang="en-US" sz="1700" b="1" dirty="0">
                <a:solidFill>
                  <a:srgbClr val="0B2F5E"/>
                </a:solidFill>
                <a:latin typeface="Calibri" pitchFamily="34" charset="0"/>
                <a:ea typeface="Calibri" pitchFamily="34" charset="-122"/>
                <a:cs typeface="Calibri" pitchFamily="34" charset="-120"/>
              </a:rPr>
              <a:t>Demostración en vivo (10–15 min)</a:t>
            </a:r>
            <a:endParaRPr lang="en-US" sz="1700" dirty="0"/>
          </a:p>
        </p:txBody>
      </p:sp>
      <p:sp>
        <p:nvSpPr>
          <p:cNvPr id="13" name="Text 11"/>
          <p:cNvSpPr/>
          <p:nvPr/>
        </p:nvSpPr>
        <p:spPr>
          <a:xfrm>
            <a:off x="1691640" y="3803904"/>
            <a:ext cx="9509760" cy="41148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Recorremos el sistema real: agendar una cita, ficha del paciente y reportes.</a:t>
            </a:r>
            <a:endParaRPr lang="en-US" sz="1300" dirty="0"/>
          </a:p>
        </p:txBody>
      </p:sp>
      <p:sp>
        <p:nvSpPr>
          <p:cNvPr id="14" name="Shape 12"/>
          <p:cNvSpPr/>
          <p:nvPr/>
        </p:nvSpPr>
        <p:spPr>
          <a:xfrm>
            <a:off x="640080" y="4572000"/>
            <a:ext cx="10881360" cy="1143000"/>
          </a:xfrm>
          <a:prstGeom prst="roundRect">
            <a:avLst>
              <a:gd name="adj" fmla="val 7200"/>
            </a:avLst>
          </a:prstGeom>
          <a:solidFill>
            <a:srgbClr val="EDF3FB"/>
          </a:solidFill>
          <a:ln/>
        </p:spPr>
      </p:sp>
      <p:sp>
        <p:nvSpPr>
          <p:cNvPr id="15" name="Shape 13"/>
          <p:cNvSpPr/>
          <p:nvPr/>
        </p:nvSpPr>
        <p:spPr>
          <a:xfrm>
            <a:off x="914400" y="4864608"/>
            <a:ext cx="566928" cy="566928"/>
          </a:xfrm>
          <a:prstGeom prst="ellipse">
            <a:avLst/>
          </a:prstGeom>
          <a:solidFill>
            <a:srgbClr val="1E9E6A"/>
          </a:solidFill>
          <a:ln/>
        </p:spPr>
      </p:sp>
      <p:sp>
        <p:nvSpPr>
          <p:cNvPr id="16" name="Text 14"/>
          <p:cNvSpPr/>
          <p:nvPr/>
        </p:nvSpPr>
        <p:spPr>
          <a:xfrm>
            <a:off x="914400" y="48646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691640" y="4754880"/>
            <a:ext cx="9509760" cy="411480"/>
          </a:xfrm>
          <a:prstGeom prst="rect">
            <a:avLst/>
          </a:prstGeom>
          <a:noFill/>
          <a:ln/>
        </p:spPr>
        <p:txBody>
          <a:bodyPr wrap="square" lIns="0" tIns="0" rIns="0" bIns="0" rtlCol="0" anchor="ctr"/>
          <a:lstStyle/>
          <a:p>
            <a:pPr indent="0" marL="0">
              <a:buNone/>
            </a:pPr>
            <a:r>
              <a:rPr lang="en-US" sz="1700" b="1" dirty="0">
                <a:solidFill>
                  <a:srgbClr val="0B2F5E"/>
                </a:solidFill>
                <a:latin typeface="Calibri" pitchFamily="34" charset="0"/>
                <a:ea typeface="Calibri" pitchFamily="34" charset="-122"/>
                <a:cs typeface="Calibri" pitchFamily="34" charset="-120"/>
              </a:rPr>
              <a:t>Preguntas y próximos pasos (10 min)</a:t>
            </a:r>
            <a:endParaRPr lang="en-US" sz="1700" dirty="0"/>
          </a:p>
        </p:txBody>
      </p:sp>
      <p:sp>
        <p:nvSpPr>
          <p:cNvPr id="18" name="Text 16"/>
          <p:cNvSpPr/>
          <p:nvPr/>
        </p:nvSpPr>
        <p:spPr>
          <a:xfrm>
            <a:off x="1691640" y="5175504"/>
            <a:ext cx="9509760" cy="411480"/>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Dudas, decisiones y qué sigue para la puesta en marcha.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EL SISTEMA</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¿Qué es Limablue Agenda?</a:t>
            </a:r>
            <a:endParaRPr lang="en-US" sz="2900" dirty="0"/>
          </a:p>
        </p:txBody>
      </p:sp>
      <p:sp>
        <p:nvSpPr>
          <p:cNvPr id="4" name="Text 2"/>
          <p:cNvSpPr/>
          <p:nvPr/>
        </p:nvSpPr>
        <p:spPr>
          <a:xfrm>
            <a:off x="548640" y="1554480"/>
            <a:ext cx="11064240" cy="914400"/>
          </a:xfrm>
          <a:prstGeom prst="rect">
            <a:avLst/>
          </a:prstGeom>
          <a:noFill/>
          <a:ln/>
        </p:spPr>
        <p:txBody>
          <a:bodyPr wrap="square" lIns="0" tIns="0" rIns="0" bIns="0" rtlCol="0" anchor="ctr"/>
          <a:lstStyle/>
          <a:p>
            <a:pPr indent="0" marL="0">
              <a:lnSpc>
                <a:spcPct val="125000"/>
              </a:lnSpc>
              <a:buNone/>
            </a:pPr>
            <a:r>
              <a:rPr lang="en-US" sz="1650" dirty="0">
                <a:solidFill>
                  <a:srgbClr val="16222E"/>
                </a:solidFill>
                <a:latin typeface="Calibri" pitchFamily="34" charset="0"/>
                <a:ea typeface="Calibri" pitchFamily="34" charset="-122"/>
                <a:cs typeface="Calibri" pitchFamily="34" charset="-120"/>
              </a:rPr>
              <a:t>Un sistema web que centraliza en una sola plataforma las citas, los pacientes, los servicios, el personal, las comunicaciones y los reportes de las 5 sedes — en tiempo real y para varios usuarios a la vez.</a:t>
            </a:r>
            <a:endParaRPr lang="en-US" sz="1650" dirty="0"/>
          </a:p>
        </p:txBody>
      </p:sp>
      <p:sp>
        <p:nvSpPr>
          <p:cNvPr id="5" name="Shape 3"/>
          <p:cNvSpPr/>
          <p:nvPr/>
        </p:nvSpPr>
        <p:spPr>
          <a:xfrm>
            <a:off x="548640" y="2743200"/>
            <a:ext cx="2615184" cy="1371600"/>
          </a:xfrm>
          <a:prstGeom prst="roundRect">
            <a:avLst>
              <a:gd name="adj" fmla="val 6000"/>
            </a:avLst>
          </a:prstGeom>
          <a:solidFill>
            <a:srgbClr val="EDF3FB"/>
          </a:solidFill>
          <a:ln/>
        </p:spPr>
      </p:sp>
      <p:sp>
        <p:nvSpPr>
          <p:cNvPr id="6" name="Text 4"/>
          <p:cNvSpPr/>
          <p:nvPr/>
        </p:nvSpPr>
        <p:spPr>
          <a:xfrm>
            <a:off x="640080" y="2926080"/>
            <a:ext cx="2432304" cy="731520"/>
          </a:xfrm>
          <a:prstGeom prst="rect">
            <a:avLst/>
          </a:prstGeom>
          <a:noFill/>
          <a:ln/>
        </p:spPr>
        <p:txBody>
          <a:bodyPr wrap="square" lIns="0" tIns="0" rIns="0" bIns="0" rtlCol="0" anchor="ctr"/>
          <a:lstStyle/>
          <a:p>
            <a:pPr algn="ctr" indent="0" marL="0">
              <a:buNone/>
            </a:pPr>
            <a:r>
              <a:rPr lang="en-US" sz="3200" b="1" dirty="0">
                <a:solidFill>
                  <a:srgbClr val="0057D9"/>
                </a:solidFill>
                <a:latin typeface="Cambria" pitchFamily="34" charset="0"/>
                <a:ea typeface="Cambria" pitchFamily="34" charset="-122"/>
                <a:cs typeface="Cambria" pitchFamily="34" charset="-120"/>
              </a:rPr>
              <a:t>5</a:t>
            </a:r>
            <a:endParaRPr lang="en-US" sz="3200" dirty="0"/>
          </a:p>
        </p:txBody>
      </p:sp>
      <p:sp>
        <p:nvSpPr>
          <p:cNvPr id="7" name="Text 5"/>
          <p:cNvSpPr/>
          <p:nvPr/>
        </p:nvSpPr>
        <p:spPr>
          <a:xfrm>
            <a:off x="640080" y="3639312"/>
            <a:ext cx="2432304"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sedes</a:t>
            </a:r>
            <a:endParaRPr lang="en-US" sz="1300" dirty="0"/>
          </a:p>
        </p:txBody>
      </p:sp>
      <p:sp>
        <p:nvSpPr>
          <p:cNvPr id="8" name="Shape 6"/>
          <p:cNvSpPr/>
          <p:nvPr/>
        </p:nvSpPr>
        <p:spPr>
          <a:xfrm>
            <a:off x="3419856" y="2743200"/>
            <a:ext cx="2615184" cy="1371600"/>
          </a:xfrm>
          <a:prstGeom prst="roundRect">
            <a:avLst>
              <a:gd name="adj" fmla="val 6000"/>
            </a:avLst>
          </a:prstGeom>
          <a:solidFill>
            <a:srgbClr val="EDF3FB"/>
          </a:solidFill>
          <a:ln/>
        </p:spPr>
      </p:sp>
      <p:sp>
        <p:nvSpPr>
          <p:cNvPr id="9" name="Text 7"/>
          <p:cNvSpPr/>
          <p:nvPr/>
        </p:nvSpPr>
        <p:spPr>
          <a:xfrm>
            <a:off x="3511296" y="2926080"/>
            <a:ext cx="2432304" cy="731520"/>
          </a:xfrm>
          <a:prstGeom prst="rect">
            <a:avLst/>
          </a:prstGeom>
          <a:noFill/>
          <a:ln/>
        </p:spPr>
        <p:txBody>
          <a:bodyPr wrap="square" lIns="0" tIns="0" rIns="0" bIns="0" rtlCol="0" anchor="ctr"/>
          <a:lstStyle/>
          <a:p>
            <a:pPr algn="ctr" indent="0" marL="0">
              <a:buNone/>
            </a:pPr>
            <a:r>
              <a:rPr lang="en-US" sz="3200" b="1" dirty="0">
                <a:solidFill>
                  <a:srgbClr val="0057D9"/>
                </a:solidFill>
                <a:latin typeface="Cambria" pitchFamily="34" charset="0"/>
                <a:ea typeface="Cambria" pitchFamily="34" charset="-122"/>
                <a:cs typeface="Cambria" pitchFamily="34" charset="-120"/>
              </a:rPr>
              <a:t>~400</a:t>
            </a:r>
            <a:endParaRPr lang="en-US" sz="3200" dirty="0"/>
          </a:p>
        </p:txBody>
      </p:sp>
      <p:sp>
        <p:nvSpPr>
          <p:cNvPr id="10" name="Text 8"/>
          <p:cNvSpPr/>
          <p:nvPr/>
        </p:nvSpPr>
        <p:spPr>
          <a:xfrm>
            <a:off x="3511296" y="3639312"/>
            <a:ext cx="2432304"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citas al día</a:t>
            </a:r>
            <a:endParaRPr lang="en-US" sz="1300" dirty="0"/>
          </a:p>
        </p:txBody>
      </p:sp>
      <p:sp>
        <p:nvSpPr>
          <p:cNvPr id="11" name="Shape 9"/>
          <p:cNvSpPr/>
          <p:nvPr/>
        </p:nvSpPr>
        <p:spPr>
          <a:xfrm>
            <a:off x="6291072" y="2743200"/>
            <a:ext cx="2615184" cy="1371600"/>
          </a:xfrm>
          <a:prstGeom prst="roundRect">
            <a:avLst>
              <a:gd name="adj" fmla="val 6000"/>
            </a:avLst>
          </a:prstGeom>
          <a:solidFill>
            <a:srgbClr val="EDF3FB"/>
          </a:solidFill>
          <a:ln/>
        </p:spPr>
      </p:sp>
      <p:sp>
        <p:nvSpPr>
          <p:cNvPr id="12" name="Text 10"/>
          <p:cNvSpPr/>
          <p:nvPr/>
        </p:nvSpPr>
        <p:spPr>
          <a:xfrm>
            <a:off x="6382512" y="2926080"/>
            <a:ext cx="2432304" cy="731520"/>
          </a:xfrm>
          <a:prstGeom prst="rect">
            <a:avLst/>
          </a:prstGeom>
          <a:noFill/>
          <a:ln/>
        </p:spPr>
        <p:txBody>
          <a:bodyPr wrap="square" lIns="0" tIns="0" rIns="0" bIns="0" rtlCol="0" anchor="ctr"/>
          <a:lstStyle/>
          <a:p>
            <a:pPr algn="ctr" indent="0" marL="0">
              <a:buNone/>
            </a:pPr>
            <a:r>
              <a:rPr lang="en-US" sz="3200" b="1" dirty="0">
                <a:solidFill>
                  <a:srgbClr val="0057D9"/>
                </a:solidFill>
                <a:latin typeface="Cambria" pitchFamily="34" charset="0"/>
                <a:ea typeface="Cambria" pitchFamily="34" charset="-122"/>
                <a:cs typeface="Cambria" pitchFamily="34" charset="-120"/>
              </a:rPr>
              <a:t>40</a:t>
            </a:r>
            <a:endParaRPr lang="en-US" sz="3200" dirty="0"/>
          </a:p>
        </p:txBody>
      </p:sp>
      <p:sp>
        <p:nvSpPr>
          <p:cNvPr id="13" name="Text 11"/>
          <p:cNvSpPr/>
          <p:nvPr/>
        </p:nvSpPr>
        <p:spPr>
          <a:xfrm>
            <a:off x="6382512" y="3639312"/>
            <a:ext cx="2432304"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podólogos</a:t>
            </a:r>
            <a:endParaRPr lang="en-US" sz="1300" dirty="0"/>
          </a:p>
        </p:txBody>
      </p:sp>
      <p:sp>
        <p:nvSpPr>
          <p:cNvPr id="14" name="Shape 12"/>
          <p:cNvSpPr/>
          <p:nvPr/>
        </p:nvSpPr>
        <p:spPr>
          <a:xfrm>
            <a:off x="9162288" y="2743200"/>
            <a:ext cx="2615184" cy="1371600"/>
          </a:xfrm>
          <a:prstGeom prst="roundRect">
            <a:avLst>
              <a:gd name="adj" fmla="val 6000"/>
            </a:avLst>
          </a:prstGeom>
          <a:solidFill>
            <a:srgbClr val="EDF3FB"/>
          </a:solidFill>
          <a:ln/>
        </p:spPr>
      </p:sp>
      <p:sp>
        <p:nvSpPr>
          <p:cNvPr id="15" name="Text 13"/>
          <p:cNvSpPr/>
          <p:nvPr/>
        </p:nvSpPr>
        <p:spPr>
          <a:xfrm>
            <a:off x="9253728" y="2926080"/>
            <a:ext cx="2432304" cy="731520"/>
          </a:xfrm>
          <a:prstGeom prst="rect">
            <a:avLst/>
          </a:prstGeom>
          <a:noFill/>
          <a:ln/>
        </p:spPr>
        <p:txBody>
          <a:bodyPr wrap="square" lIns="0" tIns="0" rIns="0" bIns="0" rtlCol="0" anchor="ctr"/>
          <a:lstStyle/>
          <a:p>
            <a:pPr algn="ctr" indent="0" marL="0">
              <a:buNone/>
            </a:pPr>
            <a:r>
              <a:rPr lang="en-US" sz="3200" b="1" dirty="0">
                <a:solidFill>
                  <a:srgbClr val="0057D9"/>
                </a:solidFill>
                <a:latin typeface="Cambria" pitchFamily="34" charset="0"/>
                <a:ea typeface="Cambria" pitchFamily="34" charset="-122"/>
                <a:cs typeface="Cambria" pitchFamily="34" charset="-120"/>
              </a:rPr>
              <a:t>Tiempo real</a:t>
            </a:r>
            <a:endParaRPr lang="en-US" sz="3200" dirty="0"/>
          </a:p>
        </p:txBody>
      </p:sp>
      <p:sp>
        <p:nvSpPr>
          <p:cNvPr id="16" name="Text 14"/>
          <p:cNvSpPr/>
          <p:nvPr/>
        </p:nvSpPr>
        <p:spPr>
          <a:xfrm>
            <a:off x="9253728" y="3639312"/>
            <a:ext cx="2432304"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multiusuario</a:t>
            </a:r>
            <a:endParaRPr lang="en-US" sz="1300" dirty="0"/>
          </a:p>
        </p:txBody>
      </p:sp>
      <p:sp>
        <p:nvSpPr>
          <p:cNvPr id="17" name="Shape 15"/>
          <p:cNvSpPr/>
          <p:nvPr/>
        </p:nvSpPr>
        <p:spPr>
          <a:xfrm>
            <a:off x="548640" y="4434840"/>
            <a:ext cx="11091672" cy="1554480"/>
          </a:xfrm>
          <a:prstGeom prst="roundRect">
            <a:avLst>
              <a:gd name="adj" fmla="val 5294"/>
            </a:avLst>
          </a:prstGeom>
          <a:solidFill>
            <a:srgbClr val="0B2F5E"/>
          </a:solidFill>
          <a:ln/>
        </p:spPr>
      </p:sp>
      <p:sp>
        <p:nvSpPr>
          <p:cNvPr id="18" name="Text 16"/>
          <p:cNvSpPr/>
          <p:nvPr/>
        </p:nvSpPr>
        <p:spPr>
          <a:xfrm>
            <a:off x="868680" y="4617720"/>
            <a:ext cx="10058400" cy="365760"/>
          </a:xfrm>
          <a:prstGeom prst="rect">
            <a:avLst/>
          </a:prstGeom>
          <a:noFill/>
          <a:ln/>
        </p:spPr>
        <p:txBody>
          <a:bodyPr wrap="square" lIns="0" tIns="0" rIns="0" bIns="0" rtlCol="0" anchor="ctr"/>
          <a:lstStyle/>
          <a:p>
            <a:pPr indent="0" marL="0">
              <a:buNone/>
            </a:pPr>
            <a:r>
              <a:rPr lang="en-US" sz="1300" b="1" dirty="0">
                <a:solidFill>
                  <a:srgbClr val="9DC0FF"/>
                </a:solidFill>
                <a:latin typeface="Calibri" pitchFamily="34" charset="0"/>
                <a:ea typeface="Calibri" pitchFamily="34" charset="-122"/>
                <a:cs typeface="Calibri" pitchFamily="34" charset="-120"/>
              </a:rPr>
              <a:t>Construido a la medida de Limablue</a:t>
            </a:r>
            <a:endParaRPr lang="en-US" sz="1300" dirty="0"/>
          </a:p>
        </p:txBody>
      </p:sp>
      <p:sp>
        <p:nvSpPr>
          <p:cNvPr id="19" name="Text 17"/>
          <p:cNvSpPr/>
          <p:nvPr/>
        </p:nvSpPr>
        <p:spPr>
          <a:xfrm>
            <a:off x="868680" y="5029200"/>
            <a:ext cx="10424160" cy="822960"/>
          </a:xfrm>
          <a:prstGeom prst="rect">
            <a:avLst/>
          </a:prstGeom>
          <a:noFill/>
          <a:ln/>
        </p:spPr>
        <p:txBody>
          <a:bodyPr wrap="square" lIns="0" tIns="0" rIns="0" bIns="0" rtlCol="0" anchor="ctr"/>
          <a:lstStyle/>
          <a:p>
            <a:pPr indent="0" marL="0">
              <a:lnSpc>
                <a:spcPct val="120000"/>
              </a:lnSpc>
              <a:buNone/>
            </a:pPr>
            <a:r>
              <a:rPr lang="en-US" sz="1400" dirty="0">
                <a:solidFill>
                  <a:srgbClr val="DCE7F7"/>
                </a:solidFill>
                <a:latin typeface="Calibri" pitchFamily="34" charset="0"/>
                <a:ea typeface="Calibri" pitchFamily="34" charset="-122"/>
                <a:cs typeface="Calibri" pitchFamily="34" charset="-120"/>
              </a:rPr>
              <a:t>No es un software genérico: cada regla, servicio y flujo refleja cómo trabaja la clínica. Interfaz en español, pensada para recepción.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POR QUÉ EL CAMBIO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De un programa de escritorio a una plataforma</a:t>
            </a:r>
            <a:endParaRPr lang="en-US" sz="2900" dirty="0"/>
          </a:p>
        </p:txBody>
      </p:sp>
      <p:sp>
        <p:nvSpPr>
          <p:cNvPr id="4" name="Shape 2"/>
          <p:cNvSpPr/>
          <p:nvPr/>
        </p:nvSpPr>
        <p:spPr>
          <a:xfrm>
            <a:off x="548640" y="1783080"/>
            <a:ext cx="5394960" cy="4023360"/>
          </a:xfrm>
          <a:prstGeom prst="roundRect">
            <a:avLst>
              <a:gd name="adj" fmla="val 2273"/>
            </a:avLst>
          </a:prstGeom>
          <a:solidFill>
            <a:srgbClr val="F7F1F0"/>
          </a:solidFill>
          <a:ln w="12700">
            <a:solidFill>
              <a:srgbClr val="E4CFCB"/>
            </a:solidFill>
            <a:prstDash val="solid"/>
          </a:ln>
        </p:spPr>
      </p:sp>
      <p:sp>
        <p:nvSpPr>
          <p:cNvPr id="5" name="Text 3"/>
          <p:cNvSpPr/>
          <p:nvPr/>
        </p:nvSpPr>
        <p:spPr>
          <a:xfrm>
            <a:off x="822960" y="2011680"/>
            <a:ext cx="4846320" cy="365760"/>
          </a:xfrm>
          <a:prstGeom prst="rect">
            <a:avLst/>
          </a:prstGeom>
          <a:noFill/>
          <a:ln/>
        </p:spPr>
        <p:txBody>
          <a:bodyPr wrap="square" lIns="0" tIns="0" rIns="0" bIns="0" rtlCol="0" anchor="ctr"/>
          <a:lstStyle/>
          <a:p>
            <a:pPr indent="0" marL="0">
              <a:buNone/>
            </a:pPr>
            <a:r>
              <a:rPr lang="en-US" sz="1400" b="1" spc="200" kern="0" dirty="0">
                <a:solidFill>
                  <a:srgbClr val="B85042"/>
                </a:solidFill>
                <a:latin typeface="Calibri" pitchFamily="34" charset="0"/>
                <a:ea typeface="Calibri" pitchFamily="34" charset="-122"/>
                <a:cs typeface="Calibri" pitchFamily="34" charset="-120"/>
              </a:rPr>
              <a:t>ANTES</a:t>
            </a:r>
            <a:endParaRPr lang="en-US" sz="1400" dirty="0"/>
          </a:p>
        </p:txBody>
      </p:sp>
      <p:sp>
        <p:nvSpPr>
          <p:cNvPr id="6" name="Text 4"/>
          <p:cNvSpPr/>
          <p:nvPr/>
        </p:nvSpPr>
        <p:spPr>
          <a:xfrm>
            <a:off x="822960" y="2514600"/>
            <a:ext cx="4846320" cy="31089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Programa de escritorio de 14 años.</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Atado a una PC; difícil de escalar a 5 sedes.</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Sin trazabilidad: no se sabía quién cambió qué.</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Errores humanos sin barreras (dobles reservas).</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Reportes manuales y lentos.</a:t>
            </a:r>
            <a:endParaRPr lang="en-US" sz="1400" dirty="0"/>
          </a:p>
        </p:txBody>
      </p:sp>
      <p:sp>
        <p:nvSpPr>
          <p:cNvPr id="7" name="Shape 5"/>
          <p:cNvSpPr/>
          <p:nvPr/>
        </p:nvSpPr>
        <p:spPr>
          <a:xfrm>
            <a:off x="6245352" y="1783080"/>
            <a:ext cx="5394960" cy="4023360"/>
          </a:xfrm>
          <a:prstGeom prst="roundRect">
            <a:avLst>
              <a:gd name="adj" fmla="val 2273"/>
            </a:avLst>
          </a:prstGeom>
          <a:solidFill>
            <a:srgbClr val="EDF7F1"/>
          </a:solidFill>
          <a:ln w="12700">
            <a:solidFill>
              <a:srgbClr val="BFE3CE"/>
            </a:solidFill>
            <a:prstDash val="solid"/>
          </a:ln>
        </p:spPr>
      </p:sp>
      <p:sp>
        <p:nvSpPr>
          <p:cNvPr id="8" name="Text 6"/>
          <p:cNvSpPr/>
          <p:nvPr/>
        </p:nvSpPr>
        <p:spPr>
          <a:xfrm>
            <a:off x="6519672" y="2011680"/>
            <a:ext cx="4846320" cy="365760"/>
          </a:xfrm>
          <a:prstGeom prst="rect">
            <a:avLst/>
          </a:prstGeom>
          <a:noFill/>
          <a:ln/>
        </p:spPr>
        <p:txBody>
          <a:bodyPr wrap="square" lIns="0" tIns="0" rIns="0" bIns="0" rtlCol="0" anchor="ctr"/>
          <a:lstStyle/>
          <a:p>
            <a:pPr indent="0" marL="0">
              <a:buNone/>
            </a:pPr>
            <a:r>
              <a:rPr lang="en-US" sz="1400" b="1" spc="200" kern="0" dirty="0">
                <a:solidFill>
                  <a:srgbClr val="1E9E6A"/>
                </a:solidFill>
                <a:latin typeface="Calibri" pitchFamily="34" charset="0"/>
                <a:ea typeface="Calibri" pitchFamily="34" charset="-122"/>
                <a:cs typeface="Calibri" pitchFamily="34" charset="-120"/>
              </a:rPr>
              <a:t>AHORA</a:t>
            </a:r>
            <a:endParaRPr lang="en-US" sz="1400" dirty="0"/>
          </a:p>
        </p:txBody>
      </p:sp>
      <p:sp>
        <p:nvSpPr>
          <p:cNvPr id="9" name="Text 7"/>
          <p:cNvSpPr/>
          <p:nvPr/>
        </p:nvSpPr>
        <p:spPr>
          <a:xfrm>
            <a:off x="6519672" y="2514600"/>
            <a:ext cx="4846320" cy="31089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Plataforma web, accesible desde cualquier sede.</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Multiusuario en tiempo real.</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Auditoría: cada acción queda registrada.</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Validaciones que previenen errores automáticamente.</a:t>
            </a:r>
            <a:endParaRPr lang="en-US" sz="1400" dirty="0"/>
          </a:p>
          <a:p>
            <a:pPr marL="177800" indent="-177800">
              <a:spcAft>
                <a:spcPts val="1000"/>
              </a:spcAft>
              <a:buSzPct val="100000"/>
              <a:buChar char="•"/>
            </a:pPr>
            <a:r>
              <a:rPr lang="en-US" sz="1400" dirty="0">
                <a:solidFill>
                  <a:srgbClr val="16222E"/>
                </a:solidFill>
                <a:latin typeface="Calibri" pitchFamily="34" charset="0"/>
                <a:ea typeface="Calibri" pitchFamily="34" charset="-122"/>
                <a:cs typeface="Calibri" pitchFamily="34" charset="-120"/>
              </a:rPr>
              <a:t>Reportes y KPIs al instante.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PANORAMA</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Todo lo que hace, de un vistazo</a:t>
            </a:r>
            <a:endParaRPr lang="en-US" sz="2900" dirty="0"/>
          </a:p>
        </p:txBody>
      </p:sp>
      <p:sp>
        <p:nvSpPr>
          <p:cNvPr id="4" name="Shape 2"/>
          <p:cNvSpPr/>
          <p:nvPr/>
        </p:nvSpPr>
        <p:spPr>
          <a:xfrm>
            <a:off x="548640" y="1691640"/>
            <a:ext cx="2103120" cy="1783080"/>
          </a:xfrm>
          <a:prstGeom prst="roundRect">
            <a:avLst>
              <a:gd name="adj" fmla="val 4103"/>
            </a:avLst>
          </a:prstGeom>
          <a:solidFill>
            <a:srgbClr val="EDF3FB"/>
          </a:solidFill>
          <a:ln/>
        </p:spPr>
      </p:sp>
      <p:sp>
        <p:nvSpPr>
          <p:cNvPr id="5" name="Shape 3"/>
          <p:cNvSpPr/>
          <p:nvPr/>
        </p:nvSpPr>
        <p:spPr>
          <a:xfrm>
            <a:off x="731520" y="1874520"/>
            <a:ext cx="457200" cy="457200"/>
          </a:xfrm>
          <a:prstGeom prst="ellipse">
            <a:avLst/>
          </a:prstGeom>
          <a:solidFill>
            <a:srgbClr val="0057D9"/>
          </a:solidFill>
          <a:ln/>
        </p:spPr>
      </p:sp>
      <p:sp>
        <p:nvSpPr>
          <p:cNvPr id="6" name="Text 4"/>
          <p:cNvSpPr/>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1298448" y="1892808"/>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Agenda</a:t>
            </a:r>
            <a:endParaRPr lang="en-US" sz="1300" dirty="0"/>
          </a:p>
        </p:txBody>
      </p:sp>
      <p:sp>
        <p:nvSpPr>
          <p:cNvPr id="8" name="Text 6"/>
          <p:cNvSpPr/>
          <p:nvPr/>
        </p:nvSpPr>
        <p:spPr>
          <a:xfrm>
            <a:off x="768096" y="2404872"/>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Citas por sede, día y profesional, en vivo.</a:t>
            </a:r>
            <a:endParaRPr lang="en-US" sz="1050" dirty="0"/>
          </a:p>
        </p:txBody>
      </p:sp>
      <p:sp>
        <p:nvSpPr>
          <p:cNvPr id="9" name="Shape 7"/>
          <p:cNvSpPr/>
          <p:nvPr/>
        </p:nvSpPr>
        <p:spPr>
          <a:xfrm>
            <a:off x="2825496" y="1691640"/>
            <a:ext cx="2103120" cy="1783080"/>
          </a:xfrm>
          <a:prstGeom prst="roundRect">
            <a:avLst>
              <a:gd name="adj" fmla="val 4103"/>
            </a:avLst>
          </a:prstGeom>
          <a:solidFill>
            <a:srgbClr val="EDF3FB"/>
          </a:solidFill>
          <a:ln/>
        </p:spPr>
      </p:sp>
      <p:sp>
        <p:nvSpPr>
          <p:cNvPr id="10" name="Shape 8"/>
          <p:cNvSpPr/>
          <p:nvPr/>
        </p:nvSpPr>
        <p:spPr>
          <a:xfrm>
            <a:off x="3008376" y="1874520"/>
            <a:ext cx="457200" cy="457200"/>
          </a:xfrm>
          <a:prstGeom prst="ellipse">
            <a:avLst/>
          </a:prstGeom>
          <a:solidFill>
            <a:srgbClr val="0B2F5E"/>
          </a:solidFill>
          <a:ln/>
        </p:spPr>
      </p:sp>
      <p:sp>
        <p:nvSpPr>
          <p:cNvPr id="11" name="Text 9"/>
          <p:cNvSpPr/>
          <p:nvPr/>
        </p:nvSpPr>
        <p:spPr>
          <a:xfrm>
            <a:off x="3008376"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2" name="Text 10"/>
          <p:cNvSpPr/>
          <p:nvPr/>
        </p:nvSpPr>
        <p:spPr>
          <a:xfrm>
            <a:off x="3575304" y="1892808"/>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Gestión de citas</a:t>
            </a:r>
            <a:endParaRPr lang="en-US" sz="1300" dirty="0"/>
          </a:p>
        </p:txBody>
      </p:sp>
      <p:sp>
        <p:nvSpPr>
          <p:cNvPr id="13" name="Text 11"/>
          <p:cNvSpPr/>
          <p:nvPr/>
        </p:nvSpPr>
        <p:spPr>
          <a:xfrm>
            <a:off x="3044952" y="2404872"/>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Estados, reprogramar, cancelar, notas.</a:t>
            </a:r>
            <a:endParaRPr lang="en-US" sz="1050" dirty="0"/>
          </a:p>
        </p:txBody>
      </p:sp>
      <p:sp>
        <p:nvSpPr>
          <p:cNvPr id="14" name="Shape 12"/>
          <p:cNvSpPr/>
          <p:nvPr/>
        </p:nvSpPr>
        <p:spPr>
          <a:xfrm>
            <a:off x="5102352" y="1691640"/>
            <a:ext cx="2103120" cy="1783080"/>
          </a:xfrm>
          <a:prstGeom prst="roundRect">
            <a:avLst>
              <a:gd name="adj" fmla="val 4103"/>
            </a:avLst>
          </a:prstGeom>
          <a:solidFill>
            <a:srgbClr val="EDF3FB"/>
          </a:solidFill>
          <a:ln/>
        </p:spPr>
      </p:sp>
      <p:sp>
        <p:nvSpPr>
          <p:cNvPr id="15" name="Shape 13"/>
          <p:cNvSpPr/>
          <p:nvPr/>
        </p:nvSpPr>
        <p:spPr>
          <a:xfrm>
            <a:off x="5285232" y="1874520"/>
            <a:ext cx="457200" cy="457200"/>
          </a:xfrm>
          <a:prstGeom prst="ellipse">
            <a:avLst/>
          </a:prstGeom>
          <a:solidFill>
            <a:srgbClr val="0E7C86"/>
          </a:solidFill>
          <a:ln/>
        </p:spPr>
      </p:sp>
      <p:sp>
        <p:nvSpPr>
          <p:cNvPr id="16" name="Text 14"/>
          <p:cNvSpPr/>
          <p:nvPr/>
        </p:nvSpPr>
        <p:spPr>
          <a:xfrm>
            <a:off x="5285232"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17" name="Text 15"/>
          <p:cNvSpPr/>
          <p:nvPr/>
        </p:nvSpPr>
        <p:spPr>
          <a:xfrm>
            <a:off x="5852160" y="1892808"/>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Pacientes</a:t>
            </a:r>
            <a:endParaRPr lang="en-US" sz="1300" dirty="0"/>
          </a:p>
        </p:txBody>
      </p:sp>
      <p:sp>
        <p:nvSpPr>
          <p:cNvPr id="18" name="Text 16"/>
          <p:cNvSpPr/>
          <p:nvPr/>
        </p:nvSpPr>
        <p:spPr>
          <a:xfrm>
            <a:off x="5321808" y="2404872"/>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Fichas, historial, saldos, alertas, DNI.</a:t>
            </a:r>
            <a:endParaRPr lang="en-US" sz="1050" dirty="0"/>
          </a:p>
        </p:txBody>
      </p:sp>
      <p:sp>
        <p:nvSpPr>
          <p:cNvPr id="19" name="Shape 17"/>
          <p:cNvSpPr/>
          <p:nvPr/>
        </p:nvSpPr>
        <p:spPr>
          <a:xfrm>
            <a:off x="7379208" y="1691640"/>
            <a:ext cx="2103120" cy="1783080"/>
          </a:xfrm>
          <a:prstGeom prst="roundRect">
            <a:avLst>
              <a:gd name="adj" fmla="val 4103"/>
            </a:avLst>
          </a:prstGeom>
          <a:solidFill>
            <a:srgbClr val="EDF3FB"/>
          </a:solidFill>
          <a:ln/>
        </p:spPr>
      </p:sp>
      <p:sp>
        <p:nvSpPr>
          <p:cNvPr id="20" name="Shape 18"/>
          <p:cNvSpPr/>
          <p:nvPr/>
        </p:nvSpPr>
        <p:spPr>
          <a:xfrm>
            <a:off x="7562088" y="1874520"/>
            <a:ext cx="457200" cy="457200"/>
          </a:xfrm>
          <a:prstGeom prst="ellipse">
            <a:avLst/>
          </a:prstGeom>
          <a:solidFill>
            <a:srgbClr val="1E9E6A"/>
          </a:solidFill>
          <a:ln/>
        </p:spPr>
      </p:sp>
      <p:sp>
        <p:nvSpPr>
          <p:cNvPr id="21" name="Text 19"/>
          <p:cNvSpPr/>
          <p:nvPr/>
        </p:nvSpPr>
        <p:spPr>
          <a:xfrm>
            <a:off x="7562088"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2" name="Text 20"/>
          <p:cNvSpPr/>
          <p:nvPr/>
        </p:nvSpPr>
        <p:spPr>
          <a:xfrm>
            <a:off x="8129016" y="1892808"/>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Servicios y planes</a:t>
            </a:r>
            <a:endParaRPr lang="en-US" sz="1300" dirty="0"/>
          </a:p>
        </p:txBody>
      </p:sp>
      <p:sp>
        <p:nvSpPr>
          <p:cNvPr id="23" name="Text 21"/>
          <p:cNvSpPr/>
          <p:nvPr/>
        </p:nvSpPr>
        <p:spPr>
          <a:xfrm>
            <a:off x="7598664" y="2404872"/>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Servicios, paquetes y membresías.</a:t>
            </a:r>
            <a:endParaRPr lang="en-US" sz="1050" dirty="0"/>
          </a:p>
        </p:txBody>
      </p:sp>
      <p:sp>
        <p:nvSpPr>
          <p:cNvPr id="24" name="Shape 22"/>
          <p:cNvSpPr/>
          <p:nvPr/>
        </p:nvSpPr>
        <p:spPr>
          <a:xfrm>
            <a:off x="9656064" y="1691640"/>
            <a:ext cx="2103120" cy="1783080"/>
          </a:xfrm>
          <a:prstGeom prst="roundRect">
            <a:avLst>
              <a:gd name="adj" fmla="val 4103"/>
            </a:avLst>
          </a:prstGeom>
          <a:solidFill>
            <a:srgbClr val="EDF3FB"/>
          </a:solidFill>
          <a:ln/>
        </p:spPr>
      </p:sp>
      <p:sp>
        <p:nvSpPr>
          <p:cNvPr id="25" name="Shape 23"/>
          <p:cNvSpPr/>
          <p:nvPr/>
        </p:nvSpPr>
        <p:spPr>
          <a:xfrm>
            <a:off x="9838944" y="1874520"/>
            <a:ext cx="457200" cy="457200"/>
          </a:xfrm>
          <a:prstGeom prst="ellipse">
            <a:avLst/>
          </a:prstGeom>
          <a:solidFill>
            <a:srgbClr val="C77700"/>
          </a:solidFill>
          <a:ln/>
        </p:spPr>
      </p:sp>
      <p:sp>
        <p:nvSpPr>
          <p:cNvPr id="26" name="Text 24"/>
          <p:cNvSpPr/>
          <p:nvPr/>
        </p:nvSpPr>
        <p:spPr>
          <a:xfrm>
            <a:off x="9838944"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0405872" y="1892808"/>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Promociones</a:t>
            </a:r>
            <a:endParaRPr lang="en-US" sz="1300" dirty="0"/>
          </a:p>
        </p:txBody>
      </p:sp>
      <p:sp>
        <p:nvSpPr>
          <p:cNvPr id="28" name="Text 26"/>
          <p:cNvSpPr/>
          <p:nvPr/>
        </p:nvSpPr>
        <p:spPr>
          <a:xfrm>
            <a:off x="9875520" y="2404872"/>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Descuentos con reglas y reporte.</a:t>
            </a:r>
            <a:endParaRPr lang="en-US" sz="1050" dirty="0"/>
          </a:p>
        </p:txBody>
      </p:sp>
      <p:sp>
        <p:nvSpPr>
          <p:cNvPr id="29" name="Shape 27"/>
          <p:cNvSpPr/>
          <p:nvPr/>
        </p:nvSpPr>
        <p:spPr>
          <a:xfrm>
            <a:off x="548640" y="3730752"/>
            <a:ext cx="2103120" cy="1783080"/>
          </a:xfrm>
          <a:prstGeom prst="roundRect">
            <a:avLst>
              <a:gd name="adj" fmla="val 4103"/>
            </a:avLst>
          </a:prstGeom>
          <a:solidFill>
            <a:srgbClr val="EDF3FB"/>
          </a:solidFill>
          <a:ln/>
        </p:spPr>
      </p:sp>
      <p:sp>
        <p:nvSpPr>
          <p:cNvPr id="30" name="Shape 28"/>
          <p:cNvSpPr/>
          <p:nvPr/>
        </p:nvSpPr>
        <p:spPr>
          <a:xfrm>
            <a:off x="731520" y="3913632"/>
            <a:ext cx="457200" cy="457200"/>
          </a:xfrm>
          <a:prstGeom prst="ellipse">
            <a:avLst/>
          </a:prstGeom>
          <a:solidFill>
            <a:srgbClr val="0057D9"/>
          </a:solidFill>
          <a:ln/>
        </p:spPr>
      </p:sp>
      <p:sp>
        <p:nvSpPr>
          <p:cNvPr id="31" name="Text 29"/>
          <p:cNvSpPr/>
          <p:nvPr/>
        </p:nvSpPr>
        <p:spPr>
          <a:xfrm>
            <a:off x="731520"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32" name="Text 30"/>
          <p:cNvSpPr/>
          <p:nvPr/>
        </p:nvSpPr>
        <p:spPr>
          <a:xfrm>
            <a:off x="1298448" y="3931920"/>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Herramientas</a:t>
            </a:r>
            <a:endParaRPr lang="en-US" sz="1300" dirty="0"/>
          </a:p>
        </p:txBody>
      </p:sp>
      <p:sp>
        <p:nvSpPr>
          <p:cNvPr id="33" name="Text 31"/>
          <p:cNvSpPr/>
          <p:nvPr/>
        </p:nvSpPr>
        <p:spPr>
          <a:xfrm>
            <a:off x="768096" y="4443984"/>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Horarios, almuerzos, sede, movimientos.</a:t>
            </a:r>
            <a:endParaRPr lang="en-US" sz="1050" dirty="0"/>
          </a:p>
        </p:txBody>
      </p:sp>
      <p:sp>
        <p:nvSpPr>
          <p:cNvPr id="34" name="Shape 32"/>
          <p:cNvSpPr/>
          <p:nvPr/>
        </p:nvSpPr>
        <p:spPr>
          <a:xfrm>
            <a:off x="2825496" y="3730752"/>
            <a:ext cx="2103120" cy="1783080"/>
          </a:xfrm>
          <a:prstGeom prst="roundRect">
            <a:avLst>
              <a:gd name="adj" fmla="val 4103"/>
            </a:avLst>
          </a:prstGeom>
          <a:solidFill>
            <a:srgbClr val="EDF3FB"/>
          </a:solidFill>
          <a:ln/>
        </p:spPr>
      </p:sp>
      <p:sp>
        <p:nvSpPr>
          <p:cNvPr id="35" name="Shape 33"/>
          <p:cNvSpPr/>
          <p:nvPr/>
        </p:nvSpPr>
        <p:spPr>
          <a:xfrm>
            <a:off x="3008376" y="3913632"/>
            <a:ext cx="457200" cy="457200"/>
          </a:xfrm>
          <a:prstGeom prst="ellipse">
            <a:avLst/>
          </a:prstGeom>
          <a:solidFill>
            <a:srgbClr val="0B2F5E"/>
          </a:solidFill>
          <a:ln/>
        </p:spPr>
      </p:sp>
      <p:sp>
        <p:nvSpPr>
          <p:cNvPr id="36" name="Text 34"/>
          <p:cNvSpPr/>
          <p:nvPr/>
        </p:nvSpPr>
        <p:spPr>
          <a:xfrm>
            <a:off x="3008376"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37" name="Text 35"/>
          <p:cNvSpPr/>
          <p:nvPr/>
        </p:nvSpPr>
        <p:spPr>
          <a:xfrm>
            <a:off x="3575304" y="3931920"/>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Administración</a:t>
            </a:r>
            <a:endParaRPr lang="en-US" sz="1300" dirty="0"/>
          </a:p>
        </p:txBody>
      </p:sp>
      <p:sp>
        <p:nvSpPr>
          <p:cNvPr id="38" name="Text 36"/>
          <p:cNvSpPr/>
          <p:nvPr/>
        </p:nvSpPr>
        <p:spPr>
          <a:xfrm>
            <a:off x="3044952" y="4443984"/>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Usuarios, roles, permisos, auditoría.</a:t>
            </a:r>
            <a:endParaRPr lang="en-US" sz="1050" dirty="0"/>
          </a:p>
        </p:txBody>
      </p:sp>
      <p:sp>
        <p:nvSpPr>
          <p:cNvPr id="39" name="Shape 37"/>
          <p:cNvSpPr/>
          <p:nvPr/>
        </p:nvSpPr>
        <p:spPr>
          <a:xfrm>
            <a:off x="5102352" y="3730752"/>
            <a:ext cx="2103120" cy="1783080"/>
          </a:xfrm>
          <a:prstGeom prst="roundRect">
            <a:avLst>
              <a:gd name="adj" fmla="val 4103"/>
            </a:avLst>
          </a:prstGeom>
          <a:solidFill>
            <a:srgbClr val="EDF3FB"/>
          </a:solidFill>
          <a:ln/>
        </p:spPr>
      </p:sp>
      <p:sp>
        <p:nvSpPr>
          <p:cNvPr id="40" name="Shape 38"/>
          <p:cNvSpPr/>
          <p:nvPr/>
        </p:nvSpPr>
        <p:spPr>
          <a:xfrm>
            <a:off x="5285232" y="3913632"/>
            <a:ext cx="457200" cy="457200"/>
          </a:xfrm>
          <a:prstGeom prst="ellipse">
            <a:avLst/>
          </a:prstGeom>
          <a:solidFill>
            <a:srgbClr val="0E7C86"/>
          </a:solidFill>
          <a:ln/>
        </p:spPr>
      </p:sp>
      <p:sp>
        <p:nvSpPr>
          <p:cNvPr id="41" name="Text 39"/>
          <p:cNvSpPr/>
          <p:nvPr/>
        </p:nvSpPr>
        <p:spPr>
          <a:xfrm>
            <a:off x="5285232"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p>
        </p:txBody>
      </p:sp>
      <p:sp>
        <p:nvSpPr>
          <p:cNvPr id="42" name="Text 40"/>
          <p:cNvSpPr/>
          <p:nvPr/>
        </p:nvSpPr>
        <p:spPr>
          <a:xfrm>
            <a:off x="5852160" y="3931920"/>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Comunicaciones</a:t>
            </a:r>
            <a:endParaRPr lang="en-US" sz="1300" dirty="0"/>
          </a:p>
        </p:txBody>
      </p:sp>
      <p:sp>
        <p:nvSpPr>
          <p:cNvPr id="43" name="Text 41"/>
          <p:cNvSpPr/>
          <p:nvPr/>
        </p:nvSpPr>
        <p:spPr>
          <a:xfrm>
            <a:off x="5321808" y="4443984"/>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Correos, videos y WhatsApp.</a:t>
            </a:r>
            <a:endParaRPr lang="en-US" sz="1050" dirty="0"/>
          </a:p>
        </p:txBody>
      </p:sp>
      <p:sp>
        <p:nvSpPr>
          <p:cNvPr id="44" name="Shape 42"/>
          <p:cNvSpPr/>
          <p:nvPr/>
        </p:nvSpPr>
        <p:spPr>
          <a:xfrm>
            <a:off x="7379208" y="3730752"/>
            <a:ext cx="2103120" cy="1783080"/>
          </a:xfrm>
          <a:prstGeom prst="roundRect">
            <a:avLst>
              <a:gd name="adj" fmla="val 4103"/>
            </a:avLst>
          </a:prstGeom>
          <a:solidFill>
            <a:srgbClr val="EDF3FB"/>
          </a:solidFill>
          <a:ln/>
        </p:spPr>
      </p:sp>
      <p:sp>
        <p:nvSpPr>
          <p:cNvPr id="45" name="Shape 43"/>
          <p:cNvSpPr/>
          <p:nvPr/>
        </p:nvSpPr>
        <p:spPr>
          <a:xfrm>
            <a:off x="7562088" y="3913632"/>
            <a:ext cx="457200" cy="457200"/>
          </a:xfrm>
          <a:prstGeom prst="ellipse">
            <a:avLst/>
          </a:prstGeom>
          <a:solidFill>
            <a:srgbClr val="1E9E6A"/>
          </a:solidFill>
          <a:ln/>
        </p:spPr>
      </p:sp>
      <p:sp>
        <p:nvSpPr>
          <p:cNvPr id="46" name="Text 44"/>
          <p:cNvSpPr/>
          <p:nvPr/>
        </p:nvSpPr>
        <p:spPr>
          <a:xfrm>
            <a:off x="7562088"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47" name="Text 45"/>
          <p:cNvSpPr/>
          <p:nvPr/>
        </p:nvSpPr>
        <p:spPr>
          <a:xfrm>
            <a:off x="8129016" y="3931920"/>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Analytics</a:t>
            </a:r>
            <a:endParaRPr lang="en-US" sz="1300" dirty="0"/>
          </a:p>
        </p:txBody>
      </p:sp>
      <p:sp>
        <p:nvSpPr>
          <p:cNvPr id="48" name="Text 46"/>
          <p:cNvSpPr/>
          <p:nvPr/>
        </p:nvSpPr>
        <p:spPr>
          <a:xfrm>
            <a:off x="7598664" y="4443984"/>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KPIs, tendencias y desempeño.</a:t>
            </a:r>
            <a:endParaRPr lang="en-US" sz="1050" dirty="0"/>
          </a:p>
        </p:txBody>
      </p:sp>
      <p:sp>
        <p:nvSpPr>
          <p:cNvPr id="49" name="Shape 47"/>
          <p:cNvSpPr/>
          <p:nvPr/>
        </p:nvSpPr>
        <p:spPr>
          <a:xfrm>
            <a:off x="9656064" y="3730752"/>
            <a:ext cx="2103120" cy="1783080"/>
          </a:xfrm>
          <a:prstGeom prst="roundRect">
            <a:avLst>
              <a:gd name="adj" fmla="val 4103"/>
            </a:avLst>
          </a:prstGeom>
          <a:solidFill>
            <a:srgbClr val="EDF3FB"/>
          </a:solidFill>
          <a:ln/>
        </p:spPr>
      </p:sp>
      <p:sp>
        <p:nvSpPr>
          <p:cNvPr id="50" name="Shape 48"/>
          <p:cNvSpPr/>
          <p:nvPr/>
        </p:nvSpPr>
        <p:spPr>
          <a:xfrm>
            <a:off x="9838944" y="3913632"/>
            <a:ext cx="457200" cy="457200"/>
          </a:xfrm>
          <a:prstGeom prst="ellipse">
            <a:avLst/>
          </a:prstGeom>
          <a:solidFill>
            <a:srgbClr val="C77700"/>
          </a:solidFill>
          <a:ln/>
        </p:spPr>
      </p:sp>
      <p:sp>
        <p:nvSpPr>
          <p:cNvPr id="51" name="Text 49"/>
          <p:cNvSpPr/>
          <p:nvPr/>
        </p:nvSpPr>
        <p:spPr>
          <a:xfrm>
            <a:off x="9838944" y="3913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p>
        </p:txBody>
      </p:sp>
      <p:sp>
        <p:nvSpPr>
          <p:cNvPr id="52" name="Text 50"/>
          <p:cNvSpPr/>
          <p:nvPr/>
        </p:nvSpPr>
        <p:spPr>
          <a:xfrm>
            <a:off x="10405872" y="3931920"/>
            <a:ext cx="120700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Seguridad</a:t>
            </a:r>
            <a:endParaRPr lang="en-US" sz="1300" dirty="0"/>
          </a:p>
        </p:txBody>
      </p:sp>
      <p:sp>
        <p:nvSpPr>
          <p:cNvPr id="53" name="Text 51"/>
          <p:cNvSpPr/>
          <p:nvPr/>
        </p:nvSpPr>
        <p:spPr>
          <a:xfrm>
            <a:off x="9875520" y="4443984"/>
            <a:ext cx="1682496" cy="9601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Accesos, trazabilidad y respaldo.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MÓDULO NÚCLEO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La Agenda: el corazón del día a día</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Una columna por profesional: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se ve toda la sede en una pantalla.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Podología y baropodometría: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juntas, sin duplicar agendas.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Franjas de 30 minutos: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citas también a las medias horas.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Arrastrar y soltar: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reprogramar moviendo la cita con el mouse.</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Agendar en el sitio: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clic en un espacio libre y listo.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Colores por estado: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de un vistazo se sabe quién llegó o faltó.</a:t>
            </a:r>
            <a:endParaRPr lang="en-US" sz="1450" dirty="0"/>
          </a:p>
        </p:txBody>
      </p:sp>
      <p:sp>
        <p:nvSpPr>
          <p:cNvPr id="5" name="Shape 3"/>
          <p:cNvSpPr/>
          <p:nvPr/>
        </p:nvSpPr>
        <p:spPr>
          <a:xfrm>
            <a:off x="6364224" y="2112264"/>
            <a:ext cx="5285232" cy="3328416"/>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agenda_nuevo.png">    </p:cNvPr>
          <p:cNvPicPr>
            <a:picLocks noChangeAspect="1"/>
          </p:cNvPicPr>
          <p:nvPr/>
        </p:nvPicPr>
        <p:blipFill>
          <a:blip r:embed="rId1"/>
          <a:srcRect l="0" r="0" t="0" b="0"/>
          <a:stretch/>
        </p:blipFill>
        <p:spPr>
          <a:xfrm>
            <a:off x="6400800" y="2148840"/>
            <a:ext cx="5212080" cy="32552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MÓDULO NÚCLEO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La vida de una cita, bajo control</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Recorrido claro: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agendada → confirmada → llegó → en atención → completada.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Faltas y cancelaciones: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con motivo; el espacio se libera solo.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Reprogramar seguro: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solo ofrece horas realmente disponibles.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Notas de la cita: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historial de comentarios que no se borran.</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Consultorio y canal: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se registran para orden y reportes.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Comprobante de pago:  </a:t>
            </a:r>
            <a:pPr indent="0" marL="0">
              <a:spcAft>
                <a:spcPts val="1100"/>
              </a:spcAft>
              <a:buNone/>
            </a:pPr>
            <a:r>
              <a:rPr lang="en-US" sz="1450" dirty="0">
                <a:solidFill>
                  <a:srgbClr val="16222E"/>
                </a:solidFill>
                <a:latin typeface="Calibri" pitchFamily="34" charset="0"/>
                <a:ea typeface="Calibri" pitchFamily="34" charset="-122"/>
                <a:cs typeface="Calibri" pitchFamily="34" charset="-120"/>
              </a:rPr>
              <a:t>se adjunta foto o PDF.</a:t>
            </a:r>
            <a:endParaRPr lang="en-US" sz="1450" dirty="0"/>
          </a:p>
        </p:txBody>
      </p:sp>
      <p:sp>
        <p:nvSpPr>
          <p:cNvPr id="5" name="Shape 3"/>
          <p:cNvSpPr/>
          <p:nvPr/>
        </p:nvSpPr>
        <p:spPr>
          <a:xfrm>
            <a:off x="6364224" y="1883664"/>
            <a:ext cx="5285232" cy="3621024"/>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m_detalle_cita_nuevo.png">    </p:cNvPr>
          <p:cNvPicPr>
            <a:picLocks noChangeAspect="1"/>
          </p:cNvPicPr>
          <p:nvPr/>
        </p:nvPicPr>
        <p:blipFill>
          <a:blip r:embed="rId1"/>
          <a:srcRect l="0" r="0" t="0" b="0"/>
          <a:stretch/>
        </p:blipFill>
        <p:spPr>
          <a:xfrm>
            <a:off x="6400800" y="1920240"/>
            <a:ext cx="5212080" cy="35478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D3A"/>
        </a:solidFill>
      </p:bgPr>
    </p:bg>
    <p:spTree>
      <p:nvGrpSpPr>
        <p:cNvPr id="1" name=""/>
        <p:cNvGrpSpPr/>
        <p:nvPr/>
      </p:nvGrpSpPr>
      <p:grpSpPr>
        <a:xfrm>
          <a:off x="0" y="0"/>
          <a:ext cx="0" cy="0"/>
          <a:chOff x="0" y="0"/>
          <a:chExt cx="0" cy="0"/>
        </a:xfrm>
      </p:grpSpPr>
      <p:sp>
        <p:nvSpPr>
          <p:cNvPr id="2" name="Text 0"/>
          <p:cNvSpPr/>
          <p:nvPr/>
        </p:nvSpPr>
        <p:spPr>
          <a:xfrm>
            <a:off x="548640" y="1097280"/>
            <a:ext cx="10972800" cy="365760"/>
          </a:xfrm>
          <a:prstGeom prst="rect">
            <a:avLst/>
          </a:prstGeom>
          <a:noFill/>
          <a:ln/>
        </p:spPr>
        <p:txBody>
          <a:bodyPr wrap="square" lIns="0" tIns="0" rIns="0" bIns="0" rtlCol="0" anchor="ctr"/>
          <a:lstStyle/>
          <a:p>
            <a:pPr indent="0" marL="0">
              <a:buNone/>
            </a:pPr>
            <a:r>
              <a:rPr lang="en-US" sz="1300" b="1" spc="200" kern="0" dirty="0">
                <a:solidFill>
                  <a:srgbClr val="7FB0FF"/>
                </a:solidFill>
                <a:latin typeface="Calibri" pitchFamily="34" charset="0"/>
                <a:ea typeface="Calibri" pitchFamily="34" charset="-122"/>
                <a:cs typeface="Calibri" pitchFamily="34" charset="-120"/>
              </a:rPr>
              <a:t>EL FLUJO MÁS CUIDADO</a:t>
            </a:r>
            <a:endParaRPr lang="en-US" sz="1300" dirty="0"/>
          </a:p>
        </p:txBody>
      </p:sp>
      <p:sp>
        <p:nvSpPr>
          <p:cNvPr id="3" name="Text 1"/>
          <p:cNvSpPr/>
          <p:nvPr/>
        </p:nvSpPr>
        <p:spPr>
          <a:xfrm>
            <a:off x="548640" y="1554480"/>
            <a:ext cx="11064240" cy="137160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Agendar una cita: decenas de validaciones trabajando por detrás</a:t>
            </a:r>
            <a:endParaRPr lang="en-US" sz="3200" dirty="0"/>
          </a:p>
        </p:txBody>
      </p:sp>
      <p:sp>
        <p:nvSpPr>
          <p:cNvPr id="4" name="Text 2"/>
          <p:cNvSpPr/>
          <p:nvPr/>
        </p:nvSpPr>
        <p:spPr>
          <a:xfrm>
            <a:off x="548640" y="3200400"/>
            <a:ext cx="10789920" cy="1280160"/>
          </a:xfrm>
          <a:prstGeom prst="rect">
            <a:avLst/>
          </a:prstGeom>
          <a:noFill/>
          <a:ln/>
        </p:spPr>
        <p:txBody>
          <a:bodyPr wrap="square" lIns="0" tIns="0" rIns="0" bIns="0" rtlCol="0" anchor="ctr"/>
          <a:lstStyle/>
          <a:p>
            <a:pPr indent="0" marL="0">
              <a:lnSpc>
                <a:spcPct val="130000"/>
              </a:lnSpc>
              <a:buNone/>
            </a:pPr>
            <a:r>
              <a:rPr lang="en-US" sz="1700" dirty="0">
                <a:solidFill>
                  <a:srgbClr val="C9D8EE"/>
                </a:solidFill>
                <a:latin typeface="Calibri" pitchFamily="34" charset="0"/>
                <a:ea typeface="Calibri" pitchFamily="34" charset="-122"/>
                <a:cs typeface="Calibri" pitchFamily="34" charset="-120"/>
              </a:rPr>
              <a:t>Cada validación existe porque evita un error real de la operación. El usuario solo ve un formulario simple; el sistema hace el trabajo pesado de cuidar que la cita sea válida, cobrable y sin choques.</a:t>
            </a:r>
            <a:endParaRPr lang="en-US" sz="1700" dirty="0"/>
          </a:p>
        </p:txBody>
      </p:sp>
      <p:sp>
        <p:nvSpPr>
          <p:cNvPr id="5" name="Shape 3"/>
          <p:cNvSpPr/>
          <p:nvPr/>
        </p:nvSpPr>
        <p:spPr>
          <a:xfrm>
            <a:off x="548640" y="4846320"/>
            <a:ext cx="11091672" cy="1097280"/>
          </a:xfrm>
          <a:prstGeom prst="roundRect">
            <a:avLst>
              <a:gd name="adj" fmla="val 7500"/>
            </a:avLst>
          </a:prstGeom>
          <a:solidFill>
            <a:srgbClr val="0E2A52"/>
          </a:solidFill>
          <a:ln w="12700">
            <a:solidFill>
              <a:srgbClr val="1B4A86"/>
            </a:solidFill>
            <a:prstDash val="solid"/>
          </a:ln>
        </p:spPr>
      </p:sp>
      <p:sp>
        <p:nvSpPr>
          <p:cNvPr id="6" name="Text 4"/>
          <p:cNvSpPr/>
          <p:nvPr/>
        </p:nvSpPr>
        <p:spPr>
          <a:xfrm>
            <a:off x="822960" y="4846320"/>
            <a:ext cx="10515600" cy="109728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“Validaciones hasta por que sí” — así es a propósito: menos errores humanos, menos reprocesos, menos pérdidas.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NUEVA CITA · PARTE 1</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Validaciones que evitan errores al agendar</a:t>
            </a:r>
            <a:endParaRPr lang="en-US" sz="2900" dirty="0"/>
          </a:p>
        </p:txBody>
      </p:sp>
      <p:sp>
        <p:nvSpPr>
          <p:cNvPr id="4" name="Text 2"/>
          <p:cNvSpPr/>
          <p:nvPr/>
        </p:nvSpPr>
        <p:spPr>
          <a:xfrm>
            <a:off x="548640" y="1783080"/>
            <a:ext cx="5532120" cy="4206240"/>
          </a:xfrm>
          <a:prstGeom prst="rect">
            <a:avLst/>
          </a:prstGeom>
          <a:noFill/>
          <a:ln/>
        </p:spPr>
        <p:txBody>
          <a:bodyPr wrap="square" lIns="0" tIns="0" rIns="0" bIns="0" rtlCol="0" anchor="t"/>
          <a:lstStyle/>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Sede cerrada ese día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agenda cuando la sede no atiende.</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Profesional no labora / fuera de su turno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agenda a quien no está.</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La cita se pasaría del fin de turno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quedan citas “colgando” al cierre.</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Servicio y subcategoría obligatorios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la cita siempre queda bien tipificada.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Profesional ya ocupado a esa hora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aparece deshabilitado; no se duplica.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Datos mínimos del paciente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nombres, apellidos y teléfono siempre presentes.</a:t>
            </a:r>
            <a:endParaRPr lang="en-US" sz="1350" dirty="0"/>
          </a:p>
        </p:txBody>
      </p:sp>
      <p:sp>
        <p:nvSpPr>
          <p:cNvPr id="5" name="Text 3"/>
          <p:cNvSpPr/>
          <p:nvPr/>
        </p:nvSpPr>
        <p:spPr>
          <a:xfrm>
            <a:off x="6172200" y="1783080"/>
            <a:ext cx="5486400" cy="4206240"/>
          </a:xfrm>
          <a:prstGeom prst="rect">
            <a:avLst/>
          </a:prstGeom>
          <a:noFill/>
          <a:ln/>
        </p:spPr>
        <p:txBody>
          <a:bodyPr wrap="square" lIns="0" tIns="0" rIns="0" bIns="0" rtlCol="0" anchor="t"/>
          <a:lstStyle/>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Baro: médico habilitado en la sede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solo atiende quien corresponde.</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Baro: máquina disponible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agenda sin equipo libre.</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Comprobante ≤ 10 MB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archivos manejables, sin trabar el sistema.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Paciente duplicado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avisa si el DNI ya existe y lo carga.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DNI válido (8 dígitos)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antes de consultar RENIEC/PeruDevs.</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Hora media permitida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agenda en :30 sin romper la grilla.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NUEVA CITA · PARTE 2</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Reglas de negocio e integridad</a:t>
            </a:r>
            <a:endParaRPr lang="en-US" sz="2900" dirty="0"/>
          </a:p>
        </p:txBody>
      </p:sp>
      <p:sp>
        <p:nvSpPr>
          <p:cNvPr id="4" name="Text 2"/>
          <p:cNvSpPr/>
          <p:nvPr/>
        </p:nvSpPr>
        <p:spPr>
          <a:xfrm>
            <a:off x="548640" y="1783080"/>
            <a:ext cx="5532120" cy="4206240"/>
          </a:xfrm>
          <a:prstGeom prst="rect">
            <a:avLst/>
          </a:prstGeom>
          <a:noFill/>
          <a:ln/>
        </p:spPr>
        <p:txBody>
          <a:bodyPr wrap="square" lIns="0" tIns="0" rIns="0" bIns="0" rtlCol="0" anchor="t"/>
          <a:lstStyle/>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Promoción solo si califica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aplican descuentos que no correspondían.</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Promoción sin cupo / código inválido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respeta límites y convenios.</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Promoción NO se mezcla con membresía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nunca doble beneficio.</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Cupo de la membresía por servicio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usan más sesiones de las incluidas.</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No duplicar por tipo/categoría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evita repetir la misma cita.</a:t>
            </a:r>
            <a:endParaRPr lang="en-US" sz="1350" dirty="0"/>
          </a:p>
        </p:txBody>
      </p:sp>
      <p:sp>
        <p:nvSpPr>
          <p:cNvPr id="5" name="Text 3"/>
          <p:cNvSpPr/>
          <p:nvPr/>
        </p:nvSpPr>
        <p:spPr>
          <a:xfrm>
            <a:off x="6172200" y="1783080"/>
            <a:ext cx="5486400" cy="4206240"/>
          </a:xfrm>
          <a:prstGeom prst="rect">
            <a:avLst/>
          </a:prstGeom>
          <a:noFill/>
          <a:ln/>
        </p:spPr>
        <p:txBody>
          <a:bodyPr wrap="square" lIns="0" tIns="0" rIns="0" bIns="0" rtlCol="0" anchor="t"/>
          <a:lstStyle/>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Precio guardado en la cita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lista, descuento y total final para caja.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Doble reserva imposible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cerrojo + candado en base de datos + control de reintentos.</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Cambiar de servicio limpia la membresía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se vende un plan que ya no aplica.</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Combinación ancla + extra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valida que el profesional pueda hacer ambos.</a:t>
            </a:r>
            <a:endParaRPr lang="en-US" sz="1350" dirty="0"/>
          </a:p>
          <a:p>
            <a:pPr marL="203200" indent="-203200">
              <a:buSzPct val="100000"/>
              <a:buChar char="✓"/>
            </a:pPr>
            <a:r>
              <a:rPr lang="en-US" sz="1350" b="1" dirty="0">
                <a:solidFill>
                  <a:srgbClr val="0B2F5E"/>
                </a:solidFill>
                <a:latin typeface="Calibri" pitchFamily="34" charset="0"/>
                <a:ea typeface="Calibri" pitchFamily="34" charset="-122"/>
                <a:cs typeface="Calibri" pitchFamily="34" charset="-120"/>
              </a:rPr>
              <a:t>Todo se revalida en el servidor  </a:t>
            </a:r>
            <a:pPr indent="0" marL="0">
              <a:spcAft>
                <a:spcPts val="900"/>
              </a:spcAft>
              <a:buNone/>
            </a:pPr>
            <a:r>
              <a:rPr lang="en-US" sz="1350" i="1" dirty="0">
                <a:solidFill>
                  <a:srgbClr val="5C6B7A"/>
                </a:solidFill>
                <a:latin typeface="Calibri" pitchFamily="34" charset="0"/>
                <a:ea typeface="Calibri" pitchFamily="34" charset="-122"/>
                <a:cs typeface="Calibri" pitchFamily="34" charset="-120"/>
              </a:rPr>
              <a:t>→ no basta con el formulario: el sistema confirma.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MÓDULO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Pacientes: ficha completa y rápida</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Alta con DNI: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RENIEC/PeruDevs autocompleta nombres, sexo y fecha de nacimiento.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Sin duplicados: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avisa si el paciente ya existe.</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Buscador: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por nombre, DNI o teléfono, con su historial.</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Saldos: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sesiones de paquetes y membresías a la vista.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Alertas: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marca a quien falta o reprograma seguido.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Canal de captación: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de dónde llegó cada paciente.</a:t>
            </a:r>
            <a:endParaRPr lang="en-US" sz="1450" dirty="0"/>
          </a:p>
        </p:txBody>
      </p:sp>
      <p:sp>
        <p:nvSpPr>
          <p:cNvPr id="5" name="Shape 3"/>
          <p:cNvSpPr/>
          <p:nvPr/>
        </p:nvSpPr>
        <p:spPr>
          <a:xfrm>
            <a:off x="6364224" y="1883664"/>
            <a:ext cx="5285232" cy="3621024"/>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m_nuevo_paciente_nuevo.png">    </p:cNvPr>
          <p:cNvPicPr>
            <a:picLocks noChangeAspect="1"/>
          </p:cNvPicPr>
          <p:nvPr/>
        </p:nvPicPr>
        <p:blipFill>
          <a:blip r:embed="rId1"/>
          <a:srcRect l="0" r="0" t="0" b="0"/>
          <a:stretch/>
        </p:blipFill>
        <p:spPr>
          <a:xfrm>
            <a:off x="6400800" y="1920240"/>
            <a:ext cx="5212080" cy="35478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MÓDULO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Servicios, paquetes y membresías</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Catálogo: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servicios con categorías y subcategorías (Regular/Premium).</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Combinaciones: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dos servicios en un bloque de 1 hora.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Paquetes: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sesiones con saldo y consumo automático por cita.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Membresías: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planes con varios servicios y cupos por cada uno.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Contrato en PDF: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plantilla que se llena con los datos del cliente.</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Membresías vendidas:  </a:t>
            </a:r>
            <a:pPr indent="0" marL="0">
              <a:spcAft>
                <a:spcPts val="1000"/>
              </a:spcAft>
              <a:buNone/>
            </a:pPr>
            <a:r>
              <a:rPr lang="en-US" sz="1450" dirty="0">
                <a:solidFill>
                  <a:srgbClr val="16222E"/>
                </a:solidFill>
                <a:latin typeface="Calibri" pitchFamily="34" charset="0"/>
                <a:ea typeface="Calibri" pitchFamily="34" charset="-122"/>
                <a:cs typeface="Calibri" pitchFamily="34" charset="-120"/>
              </a:rPr>
              <a:t>reporte con precio, descuento y total.</a:t>
            </a:r>
            <a:endParaRPr lang="en-US" sz="1450" dirty="0"/>
          </a:p>
        </p:txBody>
      </p:sp>
      <p:sp>
        <p:nvSpPr>
          <p:cNvPr id="5" name="Shape 3"/>
          <p:cNvSpPr/>
          <p:nvPr/>
        </p:nvSpPr>
        <p:spPr>
          <a:xfrm>
            <a:off x="6364224" y="2112264"/>
            <a:ext cx="5285232" cy="3328416"/>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servicios_nuevo.png">    </p:cNvPr>
          <p:cNvPicPr>
            <a:picLocks noChangeAspect="1"/>
          </p:cNvPicPr>
          <p:nvPr/>
        </p:nvPicPr>
        <p:blipFill>
          <a:blip r:embed="rId1"/>
          <a:srcRect l="0" r="0" t="0" b="0"/>
          <a:stretch/>
        </p:blipFill>
        <p:spPr>
          <a:xfrm>
            <a:off x="6400800" y="2148840"/>
            <a:ext cx="5212080" cy="32552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MÓDULO</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Promociones con reglas</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Restricciones: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por servicio, sede, día de la semana y canal.</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Vigencia y cupos: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fechas, cupo total y límite por paciente.</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Cupón/convenio: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código que recepción ingresa; “solo nuevos”.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Aplicación automática: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solo aparece la promo que califica.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Reporte de uso: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usos, descontado y facturado por promoción.</a:t>
            </a:r>
            <a:endParaRPr lang="en-US" sz="1450" dirty="0"/>
          </a:p>
        </p:txBody>
      </p:sp>
      <p:sp>
        <p:nvSpPr>
          <p:cNvPr id="5" name="Shape 3"/>
          <p:cNvSpPr/>
          <p:nvPr/>
        </p:nvSpPr>
        <p:spPr>
          <a:xfrm>
            <a:off x="6364224" y="1883664"/>
            <a:ext cx="5285232" cy="3621024"/>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m_promo_editor_nuevo.png">    </p:cNvPr>
          <p:cNvPicPr>
            <a:picLocks noChangeAspect="1"/>
          </p:cNvPicPr>
          <p:nvPr/>
        </p:nvPicPr>
        <p:blipFill>
          <a:blip r:embed="rId1"/>
          <a:srcRect l="0" r="0" t="0" b="0"/>
          <a:stretch/>
        </p:blipFill>
        <p:spPr>
          <a:xfrm>
            <a:off x="6400800" y="1920240"/>
            <a:ext cx="5212080" cy="3547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OPERACIÓN DIARIA</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Herramientas operativas</a:t>
            </a:r>
            <a:endParaRPr lang="en-US" sz="2900" dirty="0"/>
          </a:p>
        </p:txBody>
      </p:sp>
      <p:sp>
        <p:nvSpPr>
          <p:cNvPr id="4" name="Shape 2"/>
          <p:cNvSpPr/>
          <p:nvPr/>
        </p:nvSpPr>
        <p:spPr>
          <a:xfrm>
            <a:off x="548640" y="1691640"/>
            <a:ext cx="2651760" cy="1554480"/>
          </a:xfrm>
          <a:prstGeom prst="roundRect">
            <a:avLst>
              <a:gd name="adj" fmla="val 4706"/>
            </a:avLst>
          </a:prstGeom>
          <a:solidFill>
            <a:srgbClr val="EDF3FB"/>
          </a:solidFill>
          <a:ln/>
        </p:spPr>
      </p:sp>
      <p:sp>
        <p:nvSpPr>
          <p:cNvPr id="5" name="Shape 3"/>
          <p:cNvSpPr/>
          <p:nvPr/>
        </p:nvSpPr>
        <p:spPr>
          <a:xfrm>
            <a:off x="731520" y="1874520"/>
            <a:ext cx="457200" cy="457200"/>
          </a:xfrm>
          <a:prstGeom prst="ellipse">
            <a:avLst/>
          </a:prstGeom>
          <a:solidFill>
            <a:srgbClr val="0057D9"/>
          </a:solidFill>
          <a:ln/>
        </p:spPr>
      </p:sp>
      <p:sp>
        <p:nvSpPr>
          <p:cNvPr id="6" name="Text 4"/>
          <p:cNvSpPr/>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7" name="Text 5"/>
          <p:cNvSpPr/>
          <p:nvPr/>
        </p:nvSpPr>
        <p:spPr>
          <a:xfrm>
            <a:off x="1298448" y="1892808"/>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Horarios</a:t>
            </a:r>
            <a:endParaRPr lang="en-US" sz="1300" dirty="0"/>
          </a:p>
        </p:txBody>
      </p:sp>
      <p:sp>
        <p:nvSpPr>
          <p:cNvPr id="8" name="Text 6"/>
          <p:cNvSpPr/>
          <p:nvPr/>
        </p:nvSpPr>
        <p:spPr>
          <a:xfrm>
            <a:off x="768096" y="2404872"/>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De sede, personal y entrada.</a:t>
            </a:r>
            <a:endParaRPr lang="en-US" sz="1050" dirty="0"/>
          </a:p>
        </p:txBody>
      </p:sp>
      <p:sp>
        <p:nvSpPr>
          <p:cNvPr id="9" name="Shape 7"/>
          <p:cNvSpPr/>
          <p:nvPr/>
        </p:nvSpPr>
        <p:spPr>
          <a:xfrm>
            <a:off x="3374136" y="1691640"/>
            <a:ext cx="2651760" cy="1554480"/>
          </a:xfrm>
          <a:prstGeom prst="roundRect">
            <a:avLst>
              <a:gd name="adj" fmla="val 4706"/>
            </a:avLst>
          </a:prstGeom>
          <a:solidFill>
            <a:srgbClr val="EDF3FB"/>
          </a:solidFill>
          <a:ln/>
        </p:spPr>
      </p:sp>
      <p:sp>
        <p:nvSpPr>
          <p:cNvPr id="10" name="Shape 8"/>
          <p:cNvSpPr/>
          <p:nvPr/>
        </p:nvSpPr>
        <p:spPr>
          <a:xfrm>
            <a:off x="3557016" y="1874520"/>
            <a:ext cx="457200" cy="457200"/>
          </a:xfrm>
          <a:prstGeom prst="ellipse">
            <a:avLst/>
          </a:prstGeom>
          <a:solidFill>
            <a:srgbClr val="0B2F5E"/>
          </a:solidFill>
          <a:ln/>
        </p:spPr>
      </p:sp>
      <p:sp>
        <p:nvSpPr>
          <p:cNvPr id="11" name="Text 9"/>
          <p:cNvSpPr/>
          <p:nvPr/>
        </p:nvSpPr>
        <p:spPr>
          <a:xfrm>
            <a:off x="3557016"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12" name="Text 10"/>
          <p:cNvSpPr/>
          <p:nvPr/>
        </p:nvSpPr>
        <p:spPr>
          <a:xfrm>
            <a:off x="4123944" y="1892808"/>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Excepciones</a:t>
            </a:r>
            <a:endParaRPr lang="en-US" sz="1300" dirty="0"/>
          </a:p>
        </p:txBody>
      </p:sp>
      <p:sp>
        <p:nvSpPr>
          <p:cNvPr id="13" name="Text 11"/>
          <p:cNvSpPr/>
          <p:nvPr/>
        </p:nvSpPr>
        <p:spPr>
          <a:xfrm>
            <a:off x="3593592" y="2404872"/>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Feriados, cierres, aperturas.</a:t>
            </a:r>
            <a:endParaRPr lang="en-US" sz="1050" dirty="0"/>
          </a:p>
        </p:txBody>
      </p:sp>
      <p:sp>
        <p:nvSpPr>
          <p:cNvPr id="14" name="Shape 12"/>
          <p:cNvSpPr/>
          <p:nvPr/>
        </p:nvSpPr>
        <p:spPr>
          <a:xfrm>
            <a:off x="6199632" y="1691640"/>
            <a:ext cx="2651760" cy="1554480"/>
          </a:xfrm>
          <a:prstGeom prst="roundRect">
            <a:avLst>
              <a:gd name="adj" fmla="val 4706"/>
            </a:avLst>
          </a:prstGeom>
          <a:solidFill>
            <a:srgbClr val="EDF3FB"/>
          </a:solidFill>
          <a:ln/>
        </p:spPr>
      </p:sp>
      <p:sp>
        <p:nvSpPr>
          <p:cNvPr id="15" name="Shape 13"/>
          <p:cNvSpPr/>
          <p:nvPr/>
        </p:nvSpPr>
        <p:spPr>
          <a:xfrm>
            <a:off x="6382512" y="1874520"/>
            <a:ext cx="457200" cy="457200"/>
          </a:xfrm>
          <a:prstGeom prst="ellipse">
            <a:avLst/>
          </a:prstGeom>
          <a:solidFill>
            <a:srgbClr val="0E7C86"/>
          </a:solidFill>
          <a:ln/>
        </p:spPr>
      </p:sp>
      <p:sp>
        <p:nvSpPr>
          <p:cNvPr id="16" name="Text 14"/>
          <p:cNvSpPr/>
          <p:nvPr/>
        </p:nvSpPr>
        <p:spPr>
          <a:xfrm>
            <a:off x="6382512"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7" name="Text 15"/>
          <p:cNvSpPr/>
          <p:nvPr/>
        </p:nvSpPr>
        <p:spPr>
          <a:xfrm>
            <a:off x="6949440" y="1892808"/>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Almuerzos</a:t>
            </a:r>
            <a:endParaRPr lang="en-US" sz="1300" dirty="0"/>
          </a:p>
        </p:txBody>
      </p:sp>
      <p:sp>
        <p:nvSpPr>
          <p:cNvPr id="18" name="Text 16"/>
          <p:cNvSpPr/>
          <p:nvPr/>
        </p:nvSpPr>
        <p:spPr>
          <a:xfrm>
            <a:off x="6419088" y="2404872"/>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Por día o mes, sin choques.</a:t>
            </a:r>
            <a:endParaRPr lang="en-US" sz="1050" dirty="0"/>
          </a:p>
        </p:txBody>
      </p:sp>
      <p:sp>
        <p:nvSpPr>
          <p:cNvPr id="19" name="Shape 17"/>
          <p:cNvSpPr/>
          <p:nvPr/>
        </p:nvSpPr>
        <p:spPr>
          <a:xfrm>
            <a:off x="9025128" y="1691640"/>
            <a:ext cx="2651760" cy="1554480"/>
          </a:xfrm>
          <a:prstGeom prst="roundRect">
            <a:avLst>
              <a:gd name="adj" fmla="val 4706"/>
            </a:avLst>
          </a:prstGeom>
          <a:solidFill>
            <a:srgbClr val="EDF3FB"/>
          </a:solidFill>
          <a:ln/>
        </p:spPr>
      </p:sp>
      <p:sp>
        <p:nvSpPr>
          <p:cNvPr id="20" name="Shape 18"/>
          <p:cNvSpPr/>
          <p:nvPr/>
        </p:nvSpPr>
        <p:spPr>
          <a:xfrm>
            <a:off x="9208008" y="1874520"/>
            <a:ext cx="457200" cy="457200"/>
          </a:xfrm>
          <a:prstGeom prst="ellipse">
            <a:avLst/>
          </a:prstGeom>
          <a:solidFill>
            <a:srgbClr val="1E9E6A"/>
          </a:solidFill>
          <a:ln/>
        </p:spPr>
      </p:sp>
      <p:sp>
        <p:nvSpPr>
          <p:cNvPr id="21" name="Text 19"/>
          <p:cNvSpPr/>
          <p:nvPr/>
        </p:nvSpPr>
        <p:spPr>
          <a:xfrm>
            <a:off x="9208008"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22" name="Text 20"/>
          <p:cNvSpPr/>
          <p:nvPr/>
        </p:nvSpPr>
        <p:spPr>
          <a:xfrm>
            <a:off x="9774936" y="1892808"/>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Composición de sede</a:t>
            </a:r>
            <a:endParaRPr lang="en-US" sz="1300" dirty="0"/>
          </a:p>
        </p:txBody>
      </p:sp>
      <p:sp>
        <p:nvSpPr>
          <p:cNvPr id="23" name="Text 21"/>
          <p:cNvSpPr/>
          <p:nvPr/>
        </p:nvSpPr>
        <p:spPr>
          <a:xfrm>
            <a:off x="9244584" y="2404872"/>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Personal por especialidad; PDF.</a:t>
            </a:r>
            <a:endParaRPr lang="en-US" sz="1050" dirty="0"/>
          </a:p>
        </p:txBody>
      </p:sp>
      <p:sp>
        <p:nvSpPr>
          <p:cNvPr id="24" name="Shape 22"/>
          <p:cNvSpPr/>
          <p:nvPr/>
        </p:nvSpPr>
        <p:spPr>
          <a:xfrm>
            <a:off x="548640" y="3502152"/>
            <a:ext cx="2651760" cy="1554480"/>
          </a:xfrm>
          <a:prstGeom prst="roundRect">
            <a:avLst>
              <a:gd name="adj" fmla="val 4706"/>
            </a:avLst>
          </a:prstGeom>
          <a:solidFill>
            <a:srgbClr val="EDF3FB"/>
          </a:solidFill>
          <a:ln/>
        </p:spPr>
      </p:sp>
      <p:sp>
        <p:nvSpPr>
          <p:cNvPr id="25" name="Shape 23"/>
          <p:cNvSpPr/>
          <p:nvPr/>
        </p:nvSpPr>
        <p:spPr>
          <a:xfrm>
            <a:off x="731520" y="3685032"/>
            <a:ext cx="457200" cy="457200"/>
          </a:xfrm>
          <a:prstGeom prst="ellipse">
            <a:avLst/>
          </a:prstGeom>
          <a:solidFill>
            <a:srgbClr val="C77700"/>
          </a:solidFill>
          <a:ln/>
        </p:spPr>
      </p:sp>
      <p:sp>
        <p:nvSpPr>
          <p:cNvPr id="26" name="Text 24"/>
          <p:cNvSpPr/>
          <p:nvPr/>
        </p:nvSpPr>
        <p:spPr>
          <a:xfrm>
            <a:off x="731520"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27" name="Text 25"/>
          <p:cNvSpPr/>
          <p:nvPr/>
        </p:nvSpPr>
        <p:spPr>
          <a:xfrm>
            <a:off x="1298448" y="3703320"/>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Movimientos</a:t>
            </a:r>
            <a:endParaRPr lang="en-US" sz="1300" dirty="0"/>
          </a:p>
        </p:txBody>
      </p:sp>
      <p:sp>
        <p:nvSpPr>
          <p:cNvPr id="28" name="Text 26"/>
          <p:cNvSpPr/>
          <p:nvPr/>
        </p:nvSpPr>
        <p:spPr>
          <a:xfrm>
            <a:off x="768096" y="4215384"/>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Reubicar personal entre sedes.</a:t>
            </a:r>
            <a:endParaRPr lang="en-US" sz="1050" dirty="0"/>
          </a:p>
        </p:txBody>
      </p:sp>
      <p:sp>
        <p:nvSpPr>
          <p:cNvPr id="29" name="Shape 27"/>
          <p:cNvSpPr/>
          <p:nvPr/>
        </p:nvSpPr>
        <p:spPr>
          <a:xfrm>
            <a:off x="3374136" y="3502152"/>
            <a:ext cx="2651760" cy="1554480"/>
          </a:xfrm>
          <a:prstGeom prst="roundRect">
            <a:avLst>
              <a:gd name="adj" fmla="val 4706"/>
            </a:avLst>
          </a:prstGeom>
          <a:solidFill>
            <a:srgbClr val="EDF3FB"/>
          </a:solidFill>
          <a:ln/>
        </p:spPr>
      </p:sp>
      <p:sp>
        <p:nvSpPr>
          <p:cNvPr id="30" name="Shape 28"/>
          <p:cNvSpPr/>
          <p:nvPr/>
        </p:nvSpPr>
        <p:spPr>
          <a:xfrm>
            <a:off x="3557016" y="3685032"/>
            <a:ext cx="457200" cy="457200"/>
          </a:xfrm>
          <a:prstGeom prst="ellipse">
            <a:avLst/>
          </a:prstGeom>
          <a:solidFill>
            <a:srgbClr val="0057D9"/>
          </a:solidFill>
          <a:ln/>
        </p:spPr>
      </p:sp>
      <p:sp>
        <p:nvSpPr>
          <p:cNvPr id="31" name="Text 29"/>
          <p:cNvSpPr/>
          <p:nvPr/>
        </p:nvSpPr>
        <p:spPr>
          <a:xfrm>
            <a:off x="3557016"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32" name="Text 30"/>
          <p:cNvSpPr/>
          <p:nvPr/>
        </p:nvSpPr>
        <p:spPr>
          <a:xfrm>
            <a:off x="4123944" y="3703320"/>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Baropodometría</a:t>
            </a:r>
            <a:endParaRPr lang="en-US" sz="1300" dirty="0"/>
          </a:p>
        </p:txBody>
      </p:sp>
      <p:sp>
        <p:nvSpPr>
          <p:cNvPr id="33" name="Text 31"/>
          <p:cNvSpPr/>
          <p:nvPr/>
        </p:nvSpPr>
        <p:spPr>
          <a:xfrm>
            <a:off x="3593592" y="4215384"/>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Médico por sede y disponibilidad.</a:t>
            </a:r>
            <a:endParaRPr lang="en-US" sz="1050" dirty="0"/>
          </a:p>
        </p:txBody>
      </p:sp>
      <p:sp>
        <p:nvSpPr>
          <p:cNvPr id="34" name="Shape 32"/>
          <p:cNvSpPr/>
          <p:nvPr/>
        </p:nvSpPr>
        <p:spPr>
          <a:xfrm>
            <a:off x="6199632" y="3502152"/>
            <a:ext cx="2651760" cy="1554480"/>
          </a:xfrm>
          <a:prstGeom prst="roundRect">
            <a:avLst>
              <a:gd name="adj" fmla="val 4706"/>
            </a:avLst>
          </a:prstGeom>
          <a:solidFill>
            <a:srgbClr val="EDF3FB"/>
          </a:solidFill>
          <a:ln/>
        </p:spPr>
      </p:sp>
      <p:sp>
        <p:nvSpPr>
          <p:cNvPr id="35" name="Shape 33"/>
          <p:cNvSpPr/>
          <p:nvPr/>
        </p:nvSpPr>
        <p:spPr>
          <a:xfrm>
            <a:off x="6382512" y="3685032"/>
            <a:ext cx="457200" cy="457200"/>
          </a:xfrm>
          <a:prstGeom prst="ellipse">
            <a:avLst/>
          </a:prstGeom>
          <a:solidFill>
            <a:srgbClr val="0B2F5E"/>
          </a:solidFill>
          <a:ln/>
        </p:spPr>
      </p:sp>
      <p:sp>
        <p:nvSpPr>
          <p:cNvPr id="36" name="Text 34"/>
          <p:cNvSpPr/>
          <p:nvPr/>
        </p:nvSpPr>
        <p:spPr>
          <a:xfrm>
            <a:off x="6382512"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p>
        </p:txBody>
      </p:sp>
      <p:sp>
        <p:nvSpPr>
          <p:cNvPr id="37" name="Text 35"/>
          <p:cNvSpPr/>
          <p:nvPr/>
        </p:nvSpPr>
        <p:spPr>
          <a:xfrm>
            <a:off x="6949440" y="3703320"/>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Combinaciones</a:t>
            </a:r>
            <a:endParaRPr lang="en-US" sz="1300" dirty="0"/>
          </a:p>
        </p:txBody>
      </p:sp>
      <p:sp>
        <p:nvSpPr>
          <p:cNvPr id="38" name="Text 36"/>
          <p:cNvSpPr/>
          <p:nvPr/>
        </p:nvSpPr>
        <p:spPr>
          <a:xfrm>
            <a:off x="6419088" y="4215384"/>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Servicios que van juntos.</a:t>
            </a:r>
            <a:endParaRPr lang="en-US" sz="1050" dirty="0"/>
          </a:p>
        </p:txBody>
      </p:sp>
      <p:sp>
        <p:nvSpPr>
          <p:cNvPr id="39" name="Shape 37"/>
          <p:cNvSpPr/>
          <p:nvPr/>
        </p:nvSpPr>
        <p:spPr>
          <a:xfrm>
            <a:off x="9025128" y="3502152"/>
            <a:ext cx="2651760" cy="1554480"/>
          </a:xfrm>
          <a:prstGeom prst="roundRect">
            <a:avLst>
              <a:gd name="adj" fmla="val 4706"/>
            </a:avLst>
          </a:prstGeom>
          <a:solidFill>
            <a:srgbClr val="EDF3FB"/>
          </a:solidFill>
          <a:ln/>
        </p:spPr>
      </p:sp>
      <p:sp>
        <p:nvSpPr>
          <p:cNvPr id="40" name="Shape 38"/>
          <p:cNvSpPr/>
          <p:nvPr/>
        </p:nvSpPr>
        <p:spPr>
          <a:xfrm>
            <a:off x="9208008" y="3685032"/>
            <a:ext cx="457200" cy="457200"/>
          </a:xfrm>
          <a:prstGeom prst="ellipse">
            <a:avLst/>
          </a:prstGeom>
          <a:solidFill>
            <a:srgbClr val="0E7C86"/>
          </a:solidFill>
          <a:ln/>
        </p:spPr>
      </p:sp>
      <p:sp>
        <p:nvSpPr>
          <p:cNvPr id="41" name="Text 39"/>
          <p:cNvSpPr/>
          <p:nvPr/>
        </p:nvSpPr>
        <p:spPr>
          <a:xfrm>
            <a:off x="9208008" y="3685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42" name="Text 40"/>
          <p:cNvSpPr/>
          <p:nvPr/>
        </p:nvSpPr>
        <p:spPr>
          <a:xfrm>
            <a:off x="9774936" y="3703320"/>
            <a:ext cx="1755648"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Conciliación</a:t>
            </a:r>
            <a:endParaRPr lang="en-US" sz="1300" dirty="0"/>
          </a:p>
        </p:txBody>
      </p:sp>
      <p:sp>
        <p:nvSpPr>
          <p:cNvPr id="43" name="Text 41"/>
          <p:cNvSpPr/>
          <p:nvPr/>
        </p:nvSpPr>
        <p:spPr>
          <a:xfrm>
            <a:off x="9244584" y="4215384"/>
            <a:ext cx="2231136" cy="73152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Cuadre operativo de la agenda.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GESTIÓN Y CONTROL</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Administración y auditoría</a:t>
            </a:r>
            <a:endParaRPr lang="en-US" sz="2900" dirty="0"/>
          </a:p>
        </p:txBody>
      </p:sp>
      <p:sp>
        <p:nvSpPr>
          <p:cNvPr id="4" name="Text 2"/>
          <p:cNvSpPr/>
          <p:nvPr/>
        </p:nvSpPr>
        <p:spPr>
          <a:xfrm>
            <a:off x="548640" y="1783080"/>
            <a:ext cx="548640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Usuarios: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altas y bajas; el admin no puede desactivarse a sí mismo.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Roles y permisos: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cada quien ve y hace solo lo que le toca.</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Competencias: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qué servicios realiza cada profesional.</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Auditoría: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quién hizo qué, cuándo y desde qué equipo.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Antes y después: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cada cambio guarda su estado previo.</a:t>
            </a:r>
            <a:endParaRPr lang="en-US" sz="1450" dirty="0"/>
          </a:p>
        </p:txBody>
      </p:sp>
      <p:sp>
        <p:nvSpPr>
          <p:cNvPr id="5" name="Shape 3"/>
          <p:cNvSpPr/>
          <p:nvPr/>
        </p:nvSpPr>
        <p:spPr>
          <a:xfrm>
            <a:off x="6364224" y="2112264"/>
            <a:ext cx="5285232" cy="3328416"/>
          </a:xfrm>
          <a:prstGeom prst="rect">
            <a:avLst/>
          </a:prstGeom>
          <a:solidFill>
            <a:srgbClr val="FFFFFF"/>
          </a:solidFill>
          <a:ln w="12700">
            <a:solidFill>
              <a:srgbClr val="D8E2EF"/>
            </a:solidFill>
            <a:prstDash val="solid"/>
          </a:ln>
          <a:effectLst>
            <a:outerShdw sx="100000" sy="100000" kx="0" ky="0" algn="bl" rotWithShape="0" blurRad="114300" dist="38100" dir="5400000">
              <a:srgbClr val="8FA3BC">
                <a:alpha val="40000"/>
              </a:srgbClr>
            </a:outerShdw>
          </a:effectLst>
        </p:spPr>
      </p:sp>
      <p:pic>
        <p:nvPicPr>
          <p:cNvPr id="6" name="Image 0" descr="C:\Users\User\AppData\Local\Temp\claude\C--Users-User-Documents-Desarrollo-LimaBlue-Agenda-lb\6fb09147-029e-4371-b3e8-9a088b80b203\scratchpad\shots\auditoria_nuevo.png">    </p:cNvPr>
          <p:cNvPicPr>
            <a:picLocks noChangeAspect="1"/>
          </p:cNvPicPr>
          <p:nvPr/>
        </p:nvPicPr>
        <p:blipFill>
          <a:blip r:embed="rId1"/>
          <a:srcRect l="0" r="0" t="0" b="0"/>
          <a:stretch/>
        </p:blipFill>
        <p:spPr>
          <a:xfrm>
            <a:off x="6400800" y="2148840"/>
            <a:ext cx="5212080" cy="32552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CONTACTO CON EL PACIENTE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Comunicaciones automáticas</a:t>
            </a:r>
            <a:endParaRPr lang="en-US" sz="2900" dirty="0"/>
          </a:p>
        </p:txBody>
      </p:sp>
      <p:sp>
        <p:nvSpPr>
          <p:cNvPr id="4" name="Shape 2"/>
          <p:cNvSpPr/>
          <p:nvPr/>
        </p:nvSpPr>
        <p:spPr>
          <a:xfrm>
            <a:off x="640080" y="1783080"/>
            <a:ext cx="512064" cy="512064"/>
          </a:xfrm>
          <a:prstGeom prst="ellipse">
            <a:avLst/>
          </a:prstGeom>
          <a:solidFill>
            <a:srgbClr val="0057D9"/>
          </a:solidFill>
          <a:ln/>
        </p:spPr>
      </p:sp>
      <p:sp>
        <p:nvSpPr>
          <p:cNvPr id="5" name="Text 3"/>
          <p:cNvSpPr/>
          <p:nvPr/>
        </p:nvSpPr>
        <p:spPr>
          <a:xfrm>
            <a:off x="640080" y="178308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16736" y="1746504"/>
            <a:ext cx="10241280" cy="585216"/>
          </a:xfrm>
          <a:prstGeom prst="rect">
            <a:avLst/>
          </a:prstGeom>
          <a:noFill/>
          <a:ln/>
        </p:spPr>
        <p:txBody>
          <a:bodyPr wrap="square" lIns="0" tIns="0" rIns="0" bIns="0" rtlCol="0" anchor="ctr"/>
          <a:lstStyle/>
          <a:p>
            <a:pPr indent="0" marL="0">
              <a:buNone/>
            </a:pPr>
            <a:r>
              <a:rPr lang="en-US" sz="1250" b="1" dirty="0">
                <a:solidFill>
                  <a:srgbClr val="0B2F5E"/>
                </a:solidFill>
                <a:latin typeface="Calibri" pitchFamily="34" charset="0"/>
                <a:ea typeface="Calibri" pitchFamily="34" charset="-122"/>
                <a:cs typeface="Calibri" pitchFamily="34" charset="-120"/>
              </a:rPr>
              <a:t>Correo de reserva   </a:t>
            </a:r>
            <a:pPr indent="0" marL="0">
              <a:buNone/>
            </a:pPr>
            <a:r>
              <a:rPr lang="en-US" sz="1250" dirty="0">
                <a:solidFill>
                  <a:srgbClr val="5C6B7A"/>
                </a:solidFill>
                <a:latin typeface="Calibri" pitchFamily="34" charset="0"/>
                <a:ea typeface="Calibri" pitchFamily="34" charset="-122"/>
                <a:cs typeface="Calibri" pitchFamily="34" charset="-120"/>
              </a:rPr>
              <a:t>Al agendar, con botones para Confirmar o Cancelar.</a:t>
            </a:r>
            <a:endParaRPr lang="en-US" sz="1250" dirty="0"/>
          </a:p>
        </p:txBody>
      </p:sp>
      <p:sp>
        <p:nvSpPr>
          <p:cNvPr id="7" name="Shape 5"/>
          <p:cNvSpPr/>
          <p:nvPr/>
        </p:nvSpPr>
        <p:spPr>
          <a:xfrm>
            <a:off x="640080" y="2743200"/>
            <a:ext cx="512064" cy="512064"/>
          </a:xfrm>
          <a:prstGeom prst="ellipse">
            <a:avLst/>
          </a:prstGeom>
          <a:solidFill>
            <a:srgbClr val="0B2F5E"/>
          </a:solidFill>
          <a:ln/>
        </p:spPr>
      </p:sp>
      <p:sp>
        <p:nvSpPr>
          <p:cNvPr id="8" name="Text 6"/>
          <p:cNvSpPr/>
          <p:nvPr/>
        </p:nvSpPr>
        <p:spPr>
          <a:xfrm>
            <a:off x="640080" y="274320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316736" y="2706624"/>
            <a:ext cx="10241280" cy="585216"/>
          </a:xfrm>
          <a:prstGeom prst="rect">
            <a:avLst/>
          </a:prstGeom>
          <a:noFill/>
          <a:ln/>
        </p:spPr>
        <p:txBody>
          <a:bodyPr wrap="square" lIns="0" tIns="0" rIns="0" bIns="0" rtlCol="0" anchor="ctr"/>
          <a:lstStyle/>
          <a:p>
            <a:pPr indent="0" marL="0">
              <a:buNone/>
            </a:pPr>
            <a:r>
              <a:rPr lang="en-US" sz="1250" b="1" dirty="0">
                <a:solidFill>
                  <a:srgbClr val="0B2F5E"/>
                </a:solidFill>
                <a:latin typeface="Calibri" pitchFamily="34" charset="0"/>
                <a:ea typeface="Calibri" pitchFamily="34" charset="-122"/>
                <a:cs typeface="Calibri" pitchFamily="34" charset="-120"/>
              </a:rPr>
              <a:t>Recordatorio   </a:t>
            </a:r>
            <a:pPr indent="0" marL="0">
              <a:buNone/>
            </a:pPr>
            <a:r>
              <a:rPr lang="en-US" sz="1250" dirty="0">
                <a:solidFill>
                  <a:srgbClr val="5C6B7A"/>
                </a:solidFill>
                <a:latin typeface="Calibri" pitchFamily="34" charset="0"/>
                <a:ea typeface="Calibri" pitchFamily="34" charset="-122"/>
                <a:cs typeface="Calibri" pitchFamily="34" charset="-120"/>
              </a:rPr>
              <a:t>2 horas antes de la cita.</a:t>
            </a:r>
            <a:endParaRPr lang="en-US" sz="1250" dirty="0"/>
          </a:p>
        </p:txBody>
      </p:sp>
      <p:sp>
        <p:nvSpPr>
          <p:cNvPr id="10" name="Shape 8"/>
          <p:cNvSpPr/>
          <p:nvPr/>
        </p:nvSpPr>
        <p:spPr>
          <a:xfrm>
            <a:off x="640080" y="3703320"/>
            <a:ext cx="512064" cy="512064"/>
          </a:xfrm>
          <a:prstGeom prst="ellipse">
            <a:avLst/>
          </a:prstGeom>
          <a:solidFill>
            <a:srgbClr val="0E7C86"/>
          </a:solidFill>
          <a:ln/>
        </p:spPr>
      </p:sp>
      <p:sp>
        <p:nvSpPr>
          <p:cNvPr id="11" name="Text 9"/>
          <p:cNvSpPr/>
          <p:nvPr/>
        </p:nvSpPr>
        <p:spPr>
          <a:xfrm>
            <a:off x="640080" y="37033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316736" y="3666744"/>
            <a:ext cx="10241280" cy="585216"/>
          </a:xfrm>
          <a:prstGeom prst="rect">
            <a:avLst/>
          </a:prstGeom>
          <a:noFill/>
          <a:ln/>
        </p:spPr>
        <p:txBody>
          <a:bodyPr wrap="square" lIns="0" tIns="0" rIns="0" bIns="0" rtlCol="0" anchor="ctr"/>
          <a:lstStyle/>
          <a:p>
            <a:pPr indent="0" marL="0">
              <a:buNone/>
            </a:pPr>
            <a:r>
              <a:rPr lang="en-US" sz="1250" b="1" dirty="0">
                <a:solidFill>
                  <a:srgbClr val="0B2F5E"/>
                </a:solidFill>
                <a:latin typeface="Calibri" pitchFamily="34" charset="0"/>
                <a:ea typeface="Calibri" pitchFamily="34" charset="-122"/>
                <a:cs typeface="Calibri" pitchFamily="34" charset="-120"/>
              </a:rPr>
              <a:t>Videos al paciente   </a:t>
            </a:r>
            <a:pPr indent="0" marL="0">
              <a:buNone/>
            </a:pPr>
            <a:r>
              <a:rPr lang="en-US" sz="1250" dirty="0">
                <a:solidFill>
                  <a:srgbClr val="5C6B7A"/>
                </a:solidFill>
                <a:latin typeface="Calibri" pitchFamily="34" charset="0"/>
                <a:ea typeface="Calibri" pitchFamily="34" charset="-122"/>
                <a:cs typeface="Calibri" pitchFamily="34" charset="-120"/>
              </a:rPr>
              <a:t>Antes / durante / después, con baja voluntaria.</a:t>
            </a:r>
            <a:endParaRPr lang="en-US" sz="1250" dirty="0"/>
          </a:p>
        </p:txBody>
      </p:sp>
      <p:sp>
        <p:nvSpPr>
          <p:cNvPr id="13" name="Shape 11"/>
          <p:cNvSpPr/>
          <p:nvPr/>
        </p:nvSpPr>
        <p:spPr>
          <a:xfrm>
            <a:off x="640080" y="4663440"/>
            <a:ext cx="512064" cy="512064"/>
          </a:xfrm>
          <a:prstGeom prst="ellipse">
            <a:avLst/>
          </a:prstGeom>
          <a:solidFill>
            <a:srgbClr val="1E9E6A"/>
          </a:solidFill>
          <a:ln/>
        </p:spPr>
      </p:sp>
      <p:sp>
        <p:nvSpPr>
          <p:cNvPr id="14" name="Text 12"/>
          <p:cNvSpPr/>
          <p:nvPr/>
        </p:nvSpPr>
        <p:spPr>
          <a:xfrm>
            <a:off x="640080" y="46634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5" name="Text 13"/>
          <p:cNvSpPr/>
          <p:nvPr/>
        </p:nvSpPr>
        <p:spPr>
          <a:xfrm>
            <a:off x="1316736" y="4626864"/>
            <a:ext cx="10241280" cy="585216"/>
          </a:xfrm>
          <a:prstGeom prst="rect">
            <a:avLst/>
          </a:prstGeom>
          <a:noFill/>
          <a:ln/>
        </p:spPr>
        <p:txBody>
          <a:bodyPr wrap="square" lIns="0" tIns="0" rIns="0" bIns="0" rtlCol="0" anchor="ctr"/>
          <a:lstStyle/>
          <a:p>
            <a:pPr indent="0" marL="0">
              <a:buNone/>
            </a:pPr>
            <a:r>
              <a:rPr lang="en-US" sz="1250" b="1" dirty="0">
                <a:solidFill>
                  <a:srgbClr val="0B2F5E"/>
                </a:solidFill>
                <a:latin typeface="Calibri" pitchFamily="34" charset="0"/>
                <a:ea typeface="Calibri" pitchFamily="34" charset="-122"/>
                <a:cs typeface="Calibri" pitchFamily="34" charset="-120"/>
              </a:rPr>
              <a:t>WhatsApp   </a:t>
            </a:r>
            <a:pPr indent="0" marL="0">
              <a:buNone/>
            </a:pPr>
            <a:r>
              <a:rPr lang="en-US" sz="1250" dirty="0">
                <a:solidFill>
                  <a:srgbClr val="5C6B7A"/>
                </a:solidFill>
                <a:latin typeface="Calibri" pitchFamily="34" charset="0"/>
                <a:ea typeface="Calibri" pitchFamily="34" charset="-122"/>
                <a:cs typeface="Calibri" pitchFamily="34" charset="-120"/>
              </a:rPr>
              <a:t>Botón “Reprogramar” en el recordatorio.</a:t>
            </a:r>
            <a:endParaRPr lang="en-US" sz="1250" dirty="0"/>
          </a:p>
        </p:txBody>
      </p:sp>
      <p:sp>
        <p:nvSpPr>
          <p:cNvPr id="16" name="Shape 14"/>
          <p:cNvSpPr/>
          <p:nvPr/>
        </p:nvSpPr>
        <p:spPr>
          <a:xfrm>
            <a:off x="548640" y="5623560"/>
            <a:ext cx="11091672" cy="685800"/>
          </a:xfrm>
          <a:prstGeom prst="roundRect">
            <a:avLst>
              <a:gd name="adj" fmla="val 10667"/>
            </a:avLst>
          </a:prstGeom>
          <a:solidFill>
            <a:srgbClr val="EDF3FB"/>
          </a:solidFill>
          <a:ln/>
        </p:spPr>
      </p:sp>
      <p:sp>
        <p:nvSpPr>
          <p:cNvPr id="17" name="Text 15"/>
          <p:cNvSpPr/>
          <p:nvPr/>
        </p:nvSpPr>
        <p:spPr>
          <a:xfrm>
            <a:off x="777240" y="5623560"/>
            <a:ext cx="10607040" cy="685800"/>
          </a:xfrm>
          <a:prstGeom prst="rect">
            <a:avLst/>
          </a:prstGeom>
          <a:noFill/>
          <a:ln/>
        </p:spPr>
        <p:txBody>
          <a:bodyPr wrap="square" lIns="0" tIns="0" rIns="0" bIns="0" rtlCol="0" anchor="ctr"/>
          <a:lstStyle/>
          <a:p>
            <a:pPr indent="0" marL="0">
              <a:buNone/>
            </a:pPr>
            <a:r>
              <a:rPr lang="en-US" sz="1250" i="1" dirty="0">
                <a:solidFill>
                  <a:srgbClr val="5C6B7A"/>
                </a:solidFill>
                <a:latin typeface="Calibri" pitchFamily="34" charset="0"/>
                <a:ea typeface="Calibri" pitchFamily="34" charset="-122"/>
                <a:cs typeface="Calibri" pitchFamily="34" charset="-120"/>
              </a:rPr>
              <a:t>Todo automático y confiable: los envíos usan colas para no perder ningún mensaje, y hay confirmación de entrega del correo.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DECISIONES CON DATOS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Analytics y reportes</a:t>
            </a:r>
            <a:endParaRPr lang="en-US" sz="2900" dirty="0"/>
          </a:p>
        </p:txBody>
      </p:sp>
      <p:sp>
        <p:nvSpPr>
          <p:cNvPr id="4" name="Text 2"/>
          <p:cNvSpPr/>
          <p:nvPr/>
        </p:nvSpPr>
        <p:spPr>
          <a:xfrm>
            <a:off x="548640" y="1783080"/>
            <a:ext cx="5120640" cy="4206240"/>
          </a:xfrm>
          <a:prstGeom prst="rect">
            <a:avLst/>
          </a:prstGeom>
          <a:noFill/>
          <a:ln/>
        </p:spPr>
        <p:txBody>
          <a:bodyPr wrap="square" lIns="0" tIns="0" rIns="0" bIns="0" rtlCol="0" anchor="t"/>
          <a:lstStyle/>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KPIs: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ocupación, asistencia y no-shows.</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Cortes: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por sede, profesional, servicio, canal y promoción.</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Horas pico: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mapa de calor y tendencia en el tiempo.</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Captación: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pacientes nuevos por periodo y canal.</a:t>
            </a:r>
            <a:endParaRPr lang="en-US" sz="1450" dirty="0"/>
          </a:p>
          <a:p>
            <a:pPr marL="177800" indent="-177800">
              <a:buSzPct val="100000"/>
              <a:buChar char="•"/>
            </a:pPr>
            <a:r>
              <a:rPr lang="en-US" sz="1450" b="1" dirty="0">
                <a:solidFill>
                  <a:srgbClr val="0B2F5E"/>
                </a:solidFill>
                <a:latin typeface="Calibri" pitchFamily="34" charset="0"/>
                <a:ea typeface="Calibri" pitchFamily="34" charset="-122"/>
                <a:cs typeface="Calibri" pitchFamily="34" charset="-120"/>
              </a:rPr>
              <a:t>Desempeño:  </a:t>
            </a:r>
            <a:pPr indent="0" marL="0">
              <a:spcAft>
                <a:spcPts val="1200"/>
              </a:spcAft>
              <a:buNone/>
            </a:pPr>
            <a:r>
              <a:rPr lang="en-US" sz="1450" dirty="0">
                <a:solidFill>
                  <a:srgbClr val="16222E"/>
                </a:solidFill>
                <a:latin typeface="Calibri" pitchFamily="34" charset="0"/>
                <a:ea typeface="Calibri" pitchFamily="34" charset="-122"/>
                <a:cs typeface="Calibri" pitchFamily="34" charset="-120"/>
              </a:rPr>
              <a:t>productividad por recepción.</a:t>
            </a:r>
            <a:endParaRPr lang="en-US" sz="1450" dirty="0"/>
          </a:p>
        </p:txBody>
      </p:sp>
      <p:sp>
        <p:nvSpPr>
          <p:cNvPr id="5" name="Text 3"/>
          <p:cNvSpPr/>
          <p:nvPr/>
        </p:nvSpPr>
        <p:spPr>
          <a:xfrm>
            <a:off x="6035040" y="1783080"/>
            <a:ext cx="5577840" cy="320040"/>
          </a:xfrm>
          <a:prstGeom prst="rect">
            <a:avLst/>
          </a:prstGeom>
          <a:noFill/>
          <a:ln/>
        </p:spPr>
        <p:txBody>
          <a:bodyPr wrap="square" lIns="0" tIns="0" rIns="0" bIns="0" rtlCol="0" anchor="ctr"/>
          <a:lstStyle/>
          <a:p>
            <a:pPr indent="0" marL="0">
              <a:buNone/>
            </a:pPr>
            <a:r>
              <a:rPr lang="en-US" sz="1200" b="1" dirty="0">
                <a:solidFill>
                  <a:srgbClr val="5C6B7A"/>
                </a:solidFill>
                <a:latin typeface="Calibri" pitchFamily="34" charset="0"/>
                <a:ea typeface="Calibri" pitchFamily="34" charset="-122"/>
                <a:cs typeface="Calibri" pitchFamily="34" charset="-120"/>
              </a:rPr>
              <a:t>Ejemplo · citas por sede (un día)</a:t>
            </a:r>
            <a:endParaRPr lang="en-US" sz="1200" dirty="0"/>
          </a:p>
        </p:txBody>
      </p:sp>
      <p:graphicFrame>
        <p:nvGraphicFramePr>
          <p:cNvPr id="6" name="Chart 0" descr=""/>
          <p:cNvGraphicFramePr/>
          <p:nvPr/>
        </p:nvGraphicFramePr>
        <p:xfrm>
          <a:off x="5943600" y="2148840"/>
          <a:ext cx="566928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CONEXIONES</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Integraciones externas</a:t>
            </a:r>
            <a:endParaRPr lang="en-US" sz="2900" dirty="0"/>
          </a:p>
        </p:txBody>
      </p:sp>
      <p:sp>
        <p:nvSpPr>
          <p:cNvPr id="4" name="Shape 2"/>
          <p:cNvSpPr/>
          <p:nvPr/>
        </p:nvSpPr>
        <p:spPr>
          <a:xfrm>
            <a:off x="548640" y="1737360"/>
            <a:ext cx="3529584" cy="1737360"/>
          </a:xfrm>
          <a:prstGeom prst="roundRect">
            <a:avLst>
              <a:gd name="adj" fmla="val 4211"/>
            </a:avLst>
          </a:prstGeom>
          <a:solidFill>
            <a:srgbClr val="EDF3FB"/>
          </a:solidFill>
          <a:ln/>
        </p:spPr>
      </p:sp>
      <p:sp>
        <p:nvSpPr>
          <p:cNvPr id="5" name="Shape 3"/>
          <p:cNvSpPr/>
          <p:nvPr/>
        </p:nvSpPr>
        <p:spPr>
          <a:xfrm>
            <a:off x="731520" y="1920240"/>
            <a:ext cx="457200" cy="457200"/>
          </a:xfrm>
          <a:prstGeom prst="ellipse">
            <a:avLst/>
          </a:prstGeom>
          <a:solidFill>
            <a:srgbClr val="0057D9"/>
          </a:solidFill>
          <a:ln/>
        </p:spPr>
      </p:sp>
      <p:sp>
        <p:nvSpPr>
          <p:cNvPr id="6" name="Text 4"/>
          <p:cNvSpPr/>
          <p:nvPr/>
        </p:nvSpPr>
        <p:spPr>
          <a:xfrm>
            <a:off x="7315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7" name="Text 5"/>
          <p:cNvSpPr/>
          <p:nvPr/>
        </p:nvSpPr>
        <p:spPr>
          <a:xfrm>
            <a:off x="1298448"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RENIEC / PeruDevs</a:t>
            </a:r>
            <a:endParaRPr lang="en-US" sz="1300" dirty="0"/>
          </a:p>
        </p:txBody>
      </p:sp>
      <p:sp>
        <p:nvSpPr>
          <p:cNvPr id="8" name="Text 6"/>
          <p:cNvSpPr/>
          <p:nvPr/>
        </p:nvSpPr>
        <p:spPr>
          <a:xfrm>
            <a:off x="768096"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Consulta de DNI del paciente.</a:t>
            </a:r>
            <a:endParaRPr lang="en-US" sz="1050" dirty="0"/>
          </a:p>
        </p:txBody>
      </p:sp>
      <p:sp>
        <p:nvSpPr>
          <p:cNvPr id="9" name="Shape 7"/>
          <p:cNvSpPr/>
          <p:nvPr/>
        </p:nvSpPr>
        <p:spPr>
          <a:xfrm>
            <a:off x="4334256" y="1737360"/>
            <a:ext cx="3529584" cy="1737360"/>
          </a:xfrm>
          <a:prstGeom prst="roundRect">
            <a:avLst>
              <a:gd name="adj" fmla="val 4211"/>
            </a:avLst>
          </a:prstGeom>
          <a:solidFill>
            <a:srgbClr val="EDF3FB"/>
          </a:solidFill>
          <a:ln/>
        </p:spPr>
      </p:sp>
      <p:sp>
        <p:nvSpPr>
          <p:cNvPr id="10" name="Shape 8"/>
          <p:cNvSpPr/>
          <p:nvPr/>
        </p:nvSpPr>
        <p:spPr>
          <a:xfrm>
            <a:off x="4517136" y="1920240"/>
            <a:ext cx="457200" cy="457200"/>
          </a:xfrm>
          <a:prstGeom prst="ellipse">
            <a:avLst/>
          </a:prstGeom>
          <a:solidFill>
            <a:srgbClr val="0B2F5E"/>
          </a:solidFill>
          <a:ln/>
        </p:spPr>
      </p:sp>
      <p:sp>
        <p:nvSpPr>
          <p:cNvPr id="11" name="Text 9"/>
          <p:cNvSpPr/>
          <p:nvPr/>
        </p:nvSpPr>
        <p:spPr>
          <a:xfrm>
            <a:off x="4517136"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12" name="Text 10"/>
          <p:cNvSpPr/>
          <p:nvPr/>
        </p:nvSpPr>
        <p:spPr>
          <a:xfrm>
            <a:off x="5084064"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Resend</a:t>
            </a:r>
            <a:endParaRPr lang="en-US" sz="1300" dirty="0"/>
          </a:p>
        </p:txBody>
      </p:sp>
      <p:sp>
        <p:nvSpPr>
          <p:cNvPr id="13" name="Text 11"/>
          <p:cNvSpPr/>
          <p:nvPr/>
        </p:nvSpPr>
        <p:spPr>
          <a:xfrm>
            <a:off x="4553712"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Envío de correos y su entrega.</a:t>
            </a:r>
            <a:endParaRPr lang="en-US" sz="1050" dirty="0"/>
          </a:p>
        </p:txBody>
      </p:sp>
      <p:sp>
        <p:nvSpPr>
          <p:cNvPr id="14" name="Shape 12"/>
          <p:cNvSpPr/>
          <p:nvPr/>
        </p:nvSpPr>
        <p:spPr>
          <a:xfrm>
            <a:off x="8119872" y="1737360"/>
            <a:ext cx="3529584" cy="1737360"/>
          </a:xfrm>
          <a:prstGeom prst="roundRect">
            <a:avLst>
              <a:gd name="adj" fmla="val 4211"/>
            </a:avLst>
          </a:prstGeom>
          <a:solidFill>
            <a:srgbClr val="EDF3FB"/>
          </a:solidFill>
          <a:ln/>
        </p:spPr>
      </p:sp>
      <p:sp>
        <p:nvSpPr>
          <p:cNvPr id="15" name="Shape 13"/>
          <p:cNvSpPr/>
          <p:nvPr/>
        </p:nvSpPr>
        <p:spPr>
          <a:xfrm>
            <a:off x="8302752" y="1920240"/>
            <a:ext cx="457200" cy="457200"/>
          </a:xfrm>
          <a:prstGeom prst="ellipse">
            <a:avLst/>
          </a:prstGeom>
          <a:solidFill>
            <a:srgbClr val="0E7C86"/>
          </a:solidFill>
          <a:ln/>
        </p:spPr>
      </p:sp>
      <p:sp>
        <p:nvSpPr>
          <p:cNvPr id="16" name="Text 14"/>
          <p:cNvSpPr/>
          <p:nvPr/>
        </p:nvSpPr>
        <p:spPr>
          <a:xfrm>
            <a:off x="8302752"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a:t>
            </a:r>
            <a:endParaRPr lang="en-US" sz="1600" dirty="0"/>
          </a:p>
        </p:txBody>
      </p:sp>
      <p:sp>
        <p:nvSpPr>
          <p:cNvPr id="17" name="Text 15"/>
          <p:cNvSpPr/>
          <p:nvPr/>
        </p:nvSpPr>
        <p:spPr>
          <a:xfrm>
            <a:off x="8869680"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Outlook Calendar</a:t>
            </a:r>
            <a:endParaRPr lang="en-US" sz="1300" dirty="0"/>
          </a:p>
        </p:txBody>
      </p:sp>
      <p:sp>
        <p:nvSpPr>
          <p:cNvPr id="18" name="Text 16"/>
          <p:cNvSpPr/>
          <p:nvPr/>
        </p:nvSpPr>
        <p:spPr>
          <a:xfrm>
            <a:off x="8339328"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Sincroniza citas con el calendario del médico.</a:t>
            </a:r>
            <a:endParaRPr lang="en-US" sz="1050" dirty="0"/>
          </a:p>
        </p:txBody>
      </p:sp>
      <p:sp>
        <p:nvSpPr>
          <p:cNvPr id="19" name="Shape 17"/>
          <p:cNvSpPr/>
          <p:nvPr/>
        </p:nvSpPr>
        <p:spPr>
          <a:xfrm>
            <a:off x="548640" y="3749040"/>
            <a:ext cx="3529584" cy="1737360"/>
          </a:xfrm>
          <a:prstGeom prst="roundRect">
            <a:avLst>
              <a:gd name="adj" fmla="val 4211"/>
            </a:avLst>
          </a:prstGeom>
          <a:solidFill>
            <a:srgbClr val="EDF3FB"/>
          </a:solidFill>
          <a:ln/>
        </p:spPr>
      </p:sp>
      <p:sp>
        <p:nvSpPr>
          <p:cNvPr id="20" name="Shape 18"/>
          <p:cNvSpPr/>
          <p:nvPr/>
        </p:nvSpPr>
        <p:spPr>
          <a:xfrm>
            <a:off x="731520" y="3931920"/>
            <a:ext cx="457200" cy="457200"/>
          </a:xfrm>
          <a:prstGeom prst="ellipse">
            <a:avLst/>
          </a:prstGeom>
          <a:solidFill>
            <a:srgbClr val="1E9E6A"/>
          </a:solidFill>
          <a:ln/>
        </p:spPr>
      </p:sp>
      <p:sp>
        <p:nvSpPr>
          <p:cNvPr id="21" name="Text 19"/>
          <p:cNvSpPr/>
          <p:nvPr/>
        </p:nvSpPr>
        <p:spPr>
          <a:xfrm>
            <a:off x="7315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22" name="Text 20"/>
          <p:cNvSpPr/>
          <p:nvPr/>
        </p:nvSpPr>
        <p:spPr>
          <a:xfrm>
            <a:off x="1298448"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Google / Gmail</a:t>
            </a:r>
            <a:endParaRPr lang="en-US" sz="1300" dirty="0"/>
          </a:p>
        </p:txBody>
      </p:sp>
      <p:sp>
        <p:nvSpPr>
          <p:cNvPr id="23" name="Text 21"/>
          <p:cNvSpPr/>
          <p:nvPr/>
        </p:nvSpPr>
        <p:spPr>
          <a:xfrm>
            <a:off x="768096"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Cuenta remitente de los correos.</a:t>
            </a:r>
            <a:endParaRPr lang="en-US" sz="1050" dirty="0"/>
          </a:p>
        </p:txBody>
      </p:sp>
      <p:sp>
        <p:nvSpPr>
          <p:cNvPr id="24" name="Shape 22"/>
          <p:cNvSpPr/>
          <p:nvPr/>
        </p:nvSpPr>
        <p:spPr>
          <a:xfrm>
            <a:off x="4334256" y="3749040"/>
            <a:ext cx="3529584" cy="1737360"/>
          </a:xfrm>
          <a:prstGeom prst="roundRect">
            <a:avLst>
              <a:gd name="adj" fmla="val 4211"/>
            </a:avLst>
          </a:prstGeom>
          <a:solidFill>
            <a:srgbClr val="EDF3FB"/>
          </a:solidFill>
          <a:ln/>
        </p:spPr>
      </p:sp>
      <p:sp>
        <p:nvSpPr>
          <p:cNvPr id="25" name="Shape 23"/>
          <p:cNvSpPr/>
          <p:nvPr/>
        </p:nvSpPr>
        <p:spPr>
          <a:xfrm>
            <a:off x="4517136" y="3931920"/>
            <a:ext cx="457200" cy="457200"/>
          </a:xfrm>
          <a:prstGeom prst="ellipse">
            <a:avLst/>
          </a:prstGeom>
          <a:solidFill>
            <a:srgbClr val="C77700"/>
          </a:solidFill>
          <a:ln/>
        </p:spPr>
      </p:sp>
      <p:sp>
        <p:nvSpPr>
          <p:cNvPr id="26" name="Text 24"/>
          <p:cNvSpPr/>
          <p:nvPr/>
        </p:nvSpPr>
        <p:spPr>
          <a:xfrm>
            <a:off x="4517136"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27" name="Text 25"/>
          <p:cNvSpPr/>
          <p:nvPr/>
        </p:nvSpPr>
        <p:spPr>
          <a:xfrm>
            <a:off x="5084064"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Genexis</a:t>
            </a:r>
            <a:endParaRPr lang="en-US" sz="1300" dirty="0"/>
          </a:p>
        </p:txBody>
      </p:sp>
      <p:sp>
        <p:nvSpPr>
          <p:cNvPr id="28" name="Text 26"/>
          <p:cNvSpPr/>
          <p:nvPr/>
        </p:nvSpPr>
        <p:spPr>
          <a:xfrm>
            <a:off x="4553712"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Importó el historial del sistema anterior.</a:t>
            </a:r>
            <a:endParaRPr lang="en-US" sz="1050" dirty="0"/>
          </a:p>
        </p:txBody>
      </p:sp>
      <p:sp>
        <p:nvSpPr>
          <p:cNvPr id="29" name="Shape 27"/>
          <p:cNvSpPr/>
          <p:nvPr/>
        </p:nvSpPr>
        <p:spPr>
          <a:xfrm>
            <a:off x="8119872" y="3749040"/>
            <a:ext cx="3529584" cy="1737360"/>
          </a:xfrm>
          <a:prstGeom prst="roundRect">
            <a:avLst>
              <a:gd name="adj" fmla="val 4211"/>
            </a:avLst>
          </a:prstGeom>
          <a:solidFill>
            <a:srgbClr val="EDF3FB"/>
          </a:solidFill>
          <a:ln/>
        </p:spPr>
      </p:sp>
      <p:sp>
        <p:nvSpPr>
          <p:cNvPr id="30" name="Shape 28"/>
          <p:cNvSpPr/>
          <p:nvPr/>
        </p:nvSpPr>
        <p:spPr>
          <a:xfrm>
            <a:off x="8302752" y="3931920"/>
            <a:ext cx="457200" cy="457200"/>
          </a:xfrm>
          <a:prstGeom prst="ellipse">
            <a:avLst/>
          </a:prstGeom>
          <a:solidFill>
            <a:srgbClr val="0057D9"/>
          </a:solidFill>
          <a:ln/>
        </p:spPr>
      </p:sp>
      <p:sp>
        <p:nvSpPr>
          <p:cNvPr id="31" name="Text 29"/>
          <p:cNvSpPr/>
          <p:nvPr/>
        </p:nvSpPr>
        <p:spPr>
          <a:xfrm>
            <a:off x="8302752"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t>
            </a:r>
            <a:endParaRPr lang="en-US" sz="1600" dirty="0"/>
          </a:p>
        </p:txBody>
      </p:sp>
      <p:sp>
        <p:nvSpPr>
          <p:cNvPr id="32" name="Text 30"/>
          <p:cNvSpPr/>
          <p:nvPr/>
        </p:nvSpPr>
        <p:spPr>
          <a:xfrm>
            <a:off x="8869680"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Webhooks / API</a:t>
            </a:r>
            <a:endParaRPr lang="en-US" sz="1300" dirty="0"/>
          </a:p>
        </p:txBody>
      </p:sp>
      <p:sp>
        <p:nvSpPr>
          <p:cNvPr id="33" name="Text 31"/>
          <p:cNvSpPr/>
          <p:nvPr/>
        </p:nvSpPr>
        <p:spPr>
          <a:xfrm>
            <a:off x="8339328"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Puente hacia otros sistemas, de forma segura.</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CONFIANZA</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Seguridad y respaldo</a:t>
            </a:r>
            <a:endParaRPr lang="en-US" sz="2900" dirty="0"/>
          </a:p>
        </p:txBody>
      </p:sp>
      <p:sp>
        <p:nvSpPr>
          <p:cNvPr id="4" name="Shape 2"/>
          <p:cNvSpPr/>
          <p:nvPr/>
        </p:nvSpPr>
        <p:spPr>
          <a:xfrm>
            <a:off x="548640" y="1737360"/>
            <a:ext cx="3529584" cy="1737360"/>
          </a:xfrm>
          <a:prstGeom prst="roundRect">
            <a:avLst>
              <a:gd name="adj" fmla="val 4211"/>
            </a:avLst>
          </a:prstGeom>
          <a:solidFill>
            <a:srgbClr val="EDF3FB"/>
          </a:solidFill>
          <a:ln/>
        </p:spPr>
      </p:sp>
      <p:sp>
        <p:nvSpPr>
          <p:cNvPr id="5" name="Shape 3"/>
          <p:cNvSpPr/>
          <p:nvPr/>
        </p:nvSpPr>
        <p:spPr>
          <a:xfrm>
            <a:off x="731520" y="1920240"/>
            <a:ext cx="457200" cy="457200"/>
          </a:xfrm>
          <a:prstGeom prst="ellipse">
            <a:avLst/>
          </a:prstGeom>
          <a:solidFill>
            <a:srgbClr val="0B2F5E"/>
          </a:solidFill>
          <a:ln/>
        </p:spPr>
      </p:sp>
      <p:sp>
        <p:nvSpPr>
          <p:cNvPr id="6" name="Text 4"/>
          <p:cNvSpPr/>
          <p:nvPr/>
        </p:nvSpPr>
        <p:spPr>
          <a:xfrm>
            <a:off x="7315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1298448"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Acceso protegido</a:t>
            </a:r>
            <a:endParaRPr lang="en-US" sz="1300" dirty="0"/>
          </a:p>
        </p:txBody>
      </p:sp>
      <p:sp>
        <p:nvSpPr>
          <p:cNvPr id="8" name="Text 6"/>
          <p:cNvSpPr/>
          <p:nvPr/>
        </p:nvSpPr>
        <p:spPr>
          <a:xfrm>
            <a:off x="768096"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Contraseñas cifradas y sesión verificada en cada acción.</a:t>
            </a:r>
            <a:endParaRPr lang="en-US" sz="1050" dirty="0"/>
          </a:p>
        </p:txBody>
      </p:sp>
      <p:sp>
        <p:nvSpPr>
          <p:cNvPr id="9" name="Shape 7"/>
          <p:cNvSpPr/>
          <p:nvPr/>
        </p:nvSpPr>
        <p:spPr>
          <a:xfrm>
            <a:off x="4334256" y="1737360"/>
            <a:ext cx="3529584" cy="1737360"/>
          </a:xfrm>
          <a:prstGeom prst="roundRect">
            <a:avLst>
              <a:gd name="adj" fmla="val 4211"/>
            </a:avLst>
          </a:prstGeom>
          <a:solidFill>
            <a:srgbClr val="EDF3FB"/>
          </a:solidFill>
          <a:ln/>
        </p:spPr>
      </p:sp>
      <p:sp>
        <p:nvSpPr>
          <p:cNvPr id="10" name="Shape 8"/>
          <p:cNvSpPr/>
          <p:nvPr/>
        </p:nvSpPr>
        <p:spPr>
          <a:xfrm>
            <a:off x="4517136" y="1920240"/>
            <a:ext cx="457200" cy="457200"/>
          </a:xfrm>
          <a:prstGeom prst="ellipse">
            <a:avLst/>
          </a:prstGeom>
          <a:solidFill>
            <a:srgbClr val="0057D9"/>
          </a:solidFill>
          <a:ln/>
        </p:spPr>
      </p:sp>
      <p:sp>
        <p:nvSpPr>
          <p:cNvPr id="11" name="Text 9"/>
          <p:cNvSpPr/>
          <p:nvPr/>
        </p:nvSpPr>
        <p:spPr>
          <a:xfrm>
            <a:off x="4517136"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12" name="Text 10"/>
          <p:cNvSpPr/>
          <p:nvPr/>
        </p:nvSpPr>
        <p:spPr>
          <a:xfrm>
            <a:off x="5084064"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Permisos por rol</a:t>
            </a:r>
            <a:endParaRPr lang="en-US" sz="1300" dirty="0"/>
          </a:p>
        </p:txBody>
      </p:sp>
      <p:sp>
        <p:nvSpPr>
          <p:cNvPr id="13" name="Text 11"/>
          <p:cNvSpPr/>
          <p:nvPr/>
        </p:nvSpPr>
        <p:spPr>
          <a:xfrm>
            <a:off x="4553712"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Cada usuario solo hace lo que le corresponde.</a:t>
            </a:r>
            <a:endParaRPr lang="en-US" sz="1050" dirty="0"/>
          </a:p>
        </p:txBody>
      </p:sp>
      <p:sp>
        <p:nvSpPr>
          <p:cNvPr id="14" name="Shape 12"/>
          <p:cNvSpPr/>
          <p:nvPr/>
        </p:nvSpPr>
        <p:spPr>
          <a:xfrm>
            <a:off x="8119872" y="1737360"/>
            <a:ext cx="3529584" cy="1737360"/>
          </a:xfrm>
          <a:prstGeom prst="roundRect">
            <a:avLst>
              <a:gd name="adj" fmla="val 4211"/>
            </a:avLst>
          </a:prstGeom>
          <a:solidFill>
            <a:srgbClr val="EDF3FB"/>
          </a:solidFill>
          <a:ln/>
        </p:spPr>
      </p:sp>
      <p:sp>
        <p:nvSpPr>
          <p:cNvPr id="15" name="Shape 13"/>
          <p:cNvSpPr/>
          <p:nvPr/>
        </p:nvSpPr>
        <p:spPr>
          <a:xfrm>
            <a:off x="8302752" y="1920240"/>
            <a:ext cx="457200" cy="457200"/>
          </a:xfrm>
          <a:prstGeom prst="ellipse">
            <a:avLst/>
          </a:prstGeom>
          <a:solidFill>
            <a:srgbClr val="C77700"/>
          </a:solidFill>
          <a:ln/>
        </p:spPr>
      </p:sp>
      <p:sp>
        <p:nvSpPr>
          <p:cNvPr id="16" name="Text 14"/>
          <p:cNvSpPr/>
          <p:nvPr/>
        </p:nvSpPr>
        <p:spPr>
          <a:xfrm>
            <a:off x="8302752"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t>
            </a:r>
            <a:endParaRPr lang="en-US" sz="1600" dirty="0"/>
          </a:p>
        </p:txBody>
      </p:sp>
      <p:sp>
        <p:nvSpPr>
          <p:cNvPr id="17" name="Text 15"/>
          <p:cNvSpPr/>
          <p:nvPr/>
        </p:nvSpPr>
        <p:spPr>
          <a:xfrm>
            <a:off x="8869680" y="193852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Anti-abuso</a:t>
            </a:r>
            <a:endParaRPr lang="en-US" sz="1300" dirty="0"/>
          </a:p>
        </p:txBody>
      </p:sp>
      <p:sp>
        <p:nvSpPr>
          <p:cNvPr id="18" name="Text 16"/>
          <p:cNvSpPr/>
          <p:nvPr/>
        </p:nvSpPr>
        <p:spPr>
          <a:xfrm>
            <a:off x="8339328" y="245059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Límite de intentos de acceso; frena la fuerza bruta.</a:t>
            </a:r>
            <a:endParaRPr lang="en-US" sz="1050" dirty="0"/>
          </a:p>
        </p:txBody>
      </p:sp>
      <p:sp>
        <p:nvSpPr>
          <p:cNvPr id="19" name="Shape 17"/>
          <p:cNvSpPr/>
          <p:nvPr/>
        </p:nvSpPr>
        <p:spPr>
          <a:xfrm>
            <a:off x="548640" y="3749040"/>
            <a:ext cx="3529584" cy="1737360"/>
          </a:xfrm>
          <a:prstGeom prst="roundRect">
            <a:avLst>
              <a:gd name="adj" fmla="val 4211"/>
            </a:avLst>
          </a:prstGeom>
          <a:solidFill>
            <a:srgbClr val="EDF3FB"/>
          </a:solidFill>
          <a:ln/>
        </p:spPr>
      </p:sp>
      <p:sp>
        <p:nvSpPr>
          <p:cNvPr id="20" name="Shape 18"/>
          <p:cNvSpPr/>
          <p:nvPr/>
        </p:nvSpPr>
        <p:spPr>
          <a:xfrm>
            <a:off x="731520" y="3931920"/>
            <a:ext cx="457200" cy="457200"/>
          </a:xfrm>
          <a:prstGeom prst="ellipse">
            <a:avLst/>
          </a:prstGeom>
          <a:solidFill>
            <a:srgbClr val="1E9E6A"/>
          </a:solidFill>
          <a:ln/>
        </p:spPr>
      </p:sp>
      <p:sp>
        <p:nvSpPr>
          <p:cNvPr id="21" name="Text 19"/>
          <p:cNvSpPr/>
          <p:nvPr/>
        </p:nvSpPr>
        <p:spPr>
          <a:xfrm>
            <a:off x="7315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a:t>
            </a:r>
            <a:endParaRPr lang="en-US" sz="1600" dirty="0"/>
          </a:p>
        </p:txBody>
      </p:sp>
      <p:sp>
        <p:nvSpPr>
          <p:cNvPr id="22" name="Text 20"/>
          <p:cNvSpPr/>
          <p:nvPr/>
        </p:nvSpPr>
        <p:spPr>
          <a:xfrm>
            <a:off x="1298448"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Datos íntegros</a:t>
            </a:r>
            <a:endParaRPr lang="en-US" sz="1300" dirty="0"/>
          </a:p>
        </p:txBody>
      </p:sp>
      <p:sp>
        <p:nvSpPr>
          <p:cNvPr id="23" name="Text 21"/>
          <p:cNvSpPr/>
          <p:nvPr/>
        </p:nvSpPr>
        <p:spPr>
          <a:xfrm>
            <a:off x="768096"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Doble reserva imposible; información consistente.</a:t>
            </a:r>
            <a:endParaRPr lang="en-US" sz="1050" dirty="0"/>
          </a:p>
        </p:txBody>
      </p:sp>
      <p:sp>
        <p:nvSpPr>
          <p:cNvPr id="24" name="Shape 22"/>
          <p:cNvSpPr/>
          <p:nvPr/>
        </p:nvSpPr>
        <p:spPr>
          <a:xfrm>
            <a:off x="4334256" y="3749040"/>
            <a:ext cx="3529584" cy="1737360"/>
          </a:xfrm>
          <a:prstGeom prst="roundRect">
            <a:avLst>
              <a:gd name="adj" fmla="val 4211"/>
            </a:avLst>
          </a:prstGeom>
          <a:solidFill>
            <a:srgbClr val="EDF3FB"/>
          </a:solidFill>
          <a:ln/>
        </p:spPr>
      </p:sp>
      <p:sp>
        <p:nvSpPr>
          <p:cNvPr id="25" name="Shape 23"/>
          <p:cNvSpPr/>
          <p:nvPr/>
        </p:nvSpPr>
        <p:spPr>
          <a:xfrm>
            <a:off x="4517136" y="3931920"/>
            <a:ext cx="457200" cy="457200"/>
          </a:xfrm>
          <a:prstGeom prst="ellipse">
            <a:avLst/>
          </a:prstGeom>
          <a:solidFill>
            <a:srgbClr val="0E7C86"/>
          </a:solidFill>
          <a:ln/>
        </p:spPr>
      </p:sp>
      <p:sp>
        <p:nvSpPr>
          <p:cNvPr id="26" name="Text 24"/>
          <p:cNvSpPr/>
          <p:nvPr/>
        </p:nvSpPr>
        <p:spPr>
          <a:xfrm>
            <a:off x="4517136"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a:t>
            </a:r>
            <a:endParaRPr lang="en-US" sz="1600" dirty="0"/>
          </a:p>
        </p:txBody>
      </p:sp>
      <p:sp>
        <p:nvSpPr>
          <p:cNvPr id="27" name="Text 25"/>
          <p:cNvSpPr/>
          <p:nvPr/>
        </p:nvSpPr>
        <p:spPr>
          <a:xfrm>
            <a:off x="5084064"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Trazabilidad</a:t>
            </a:r>
            <a:endParaRPr lang="en-US" sz="1300" dirty="0"/>
          </a:p>
        </p:txBody>
      </p:sp>
      <p:sp>
        <p:nvSpPr>
          <p:cNvPr id="28" name="Text 26"/>
          <p:cNvSpPr/>
          <p:nvPr/>
        </p:nvSpPr>
        <p:spPr>
          <a:xfrm>
            <a:off x="4553712"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Todo queda auditado: quién, qué y cuándo.</a:t>
            </a:r>
            <a:endParaRPr lang="en-US" sz="1050" dirty="0"/>
          </a:p>
        </p:txBody>
      </p:sp>
      <p:sp>
        <p:nvSpPr>
          <p:cNvPr id="29" name="Shape 27"/>
          <p:cNvSpPr/>
          <p:nvPr/>
        </p:nvSpPr>
        <p:spPr>
          <a:xfrm>
            <a:off x="8119872" y="3749040"/>
            <a:ext cx="3529584" cy="1737360"/>
          </a:xfrm>
          <a:prstGeom prst="roundRect">
            <a:avLst>
              <a:gd name="adj" fmla="val 4211"/>
            </a:avLst>
          </a:prstGeom>
          <a:solidFill>
            <a:srgbClr val="EDF3FB"/>
          </a:solidFill>
          <a:ln/>
        </p:spPr>
      </p:sp>
      <p:sp>
        <p:nvSpPr>
          <p:cNvPr id="30" name="Shape 28"/>
          <p:cNvSpPr/>
          <p:nvPr/>
        </p:nvSpPr>
        <p:spPr>
          <a:xfrm>
            <a:off x="8302752" y="3931920"/>
            <a:ext cx="457200" cy="457200"/>
          </a:xfrm>
          <a:prstGeom prst="ellipse">
            <a:avLst/>
          </a:prstGeom>
          <a:solidFill>
            <a:srgbClr val="0B2F5E"/>
          </a:solidFill>
          <a:ln/>
        </p:spPr>
      </p:sp>
      <p:sp>
        <p:nvSpPr>
          <p:cNvPr id="31" name="Text 29"/>
          <p:cNvSpPr/>
          <p:nvPr/>
        </p:nvSpPr>
        <p:spPr>
          <a:xfrm>
            <a:off x="8302752"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32" name="Text 30"/>
          <p:cNvSpPr/>
          <p:nvPr/>
        </p:nvSpPr>
        <p:spPr>
          <a:xfrm>
            <a:off x="8869680" y="3950208"/>
            <a:ext cx="2633472" cy="402336"/>
          </a:xfrm>
          <a:prstGeom prst="rect">
            <a:avLst/>
          </a:prstGeom>
          <a:noFill/>
          <a:ln/>
        </p:spPr>
        <p:txBody>
          <a:bodyPr wrap="square" lIns="0" tIns="0" rIns="0" bIns="0" rtlCol="0" anchor="ctr"/>
          <a:lstStyle/>
          <a:p>
            <a:pPr indent="0" marL="0">
              <a:buNone/>
            </a:pPr>
            <a:r>
              <a:rPr lang="en-US" sz="1300" b="1" dirty="0">
                <a:solidFill>
                  <a:srgbClr val="0B2F5E"/>
                </a:solidFill>
                <a:latin typeface="Calibri" pitchFamily="34" charset="0"/>
                <a:ea typeface="Calibri" pitchFamily="34" charset="-122"/>
                <a:cs typeface="Calibri" pitchFamily="34" charset="-120"/>
              </a:rPr>
              <a:t>Respaldo cifrado</a:t>
            </a:r>
            <a:endParaRPr lang="en-US" sz="1300" dirty="0"/>
          </a:p>
        </p:txBody>
      </p:sp>
      <p:sp>
        <p:nvSpPr>
          <p:cNvPr id="33" name="Text 31"/>
          <p:cNvSpPr/>
          <p:nvPr/>
        </p:nvSpPr>
        <p:spPr>
          <a:xfrm>
            <a:off x="8339328" y="4462272"/>
            <a:ext cx="3108960" cy="914400"/>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Copia nocturna con cifrado fuerte (AES-256).</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D3A"/>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lIns="0" tIns="0" rIns="0" bIns="0" rtlCol="0" anchor="ctr"/>
          <a:lstStyle/>
          <a:p>
            <a:pPr indent="0" marL="0">
              <a:buNone/>
            </a:pPr>
            <a:r>
              <a:rPr lang="en-US" sz="1200" b="1" spc="200" kern="0" dirty="0">
                <a:solidFill>
                  <a:srgbClr val="7FB0FF"/>
                </a:solidFill>
                <a:latin typeface="Calibri" pitchFamily="34" charset="0"/>
                <a:ea typeface="Calibri" pitchFamily="34" charset="-122"/>
                <a:cs typeface="Calibri" pitchFamily="34" charset="-120"/>
              </a:rPr>
              <a:t>LO QUE GANA LA CLÍNICA</a:t>
            </a:r>
            <a:endParaRPr lang="en-US" sz="1200" dirty="0"/>
          </a:p>
        </p:txBody>
      </p:sp>
      <p:sp>
        <p:nvSpPr>
          <p:cNvPr id="3" name="Text 1"/>
          <p:cNvSpPr/>
          <p:nvPr/>
        </p:nvSpPr>
        <p:spPr>
          <a:xfrm>
            <a:off x="548640" y="73152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Beneficios para Limablue</a:t>
            </a:r>
            <a:endParaRPr lang="en-US" sz="3000" dirty="0"/>
          </a:p>
        </p:txBody>
      </p:sp>
      <p:sp>
        <p:nvSpPr>
          <p:cNvPr id="4" name="Shape 2"/>
          <p:cNvSpPr/>
          <p:nvPr/>
        </p:nvSpPr>
        <p:spPr>
          <a:xfrm>
            <a:off x="548640" y="1600200"/>
            <a:ext cx="3529584" cy="1600200"/>
          </a:xfrm>
          <a:prstGeom prst="roundRect">
            <a:avLst>
              <a:gd name="adj" fmla="val 5143"/>
            </a:avLst>
          </a:prstGeom>
          <a:solidFill>
            <a:srgbClr val="0E2A52"/>
          </a:solidFill>
          <a:ln w="12700">
            <a:solidFill>
              <a:srgbClr val="1B4A86"/>
            </a:solidFill>
            <a:prstDash val="solid"/>
          </a:ln>
        </p:spPr>
      </p:sp>
      <p:sp>
        <p:nvSpPr>
          <p:cNvPr id="5" name="Text 3"/>
          <p:cNvSpPr/>
          <p:nvPr/>
        </p:nvSpPr>
        <p:spPr>
          <a:xfrm>
            <a:off x="804672" y="181965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Menos errores</a:t>
            </a:r>
            <a:endParaRPr lang="en-US" sz="1700" dirty="0"/>
          </a:p>
        </p:txBody>
      </p:sp>
      <p:sp>
        <p:nvSpPr>
          <p:cNvPr id="6" name="Text 4"/>
          <p:cNvSpPr/>
          <p:nvPr/>
        </p:nvSpPr>
        <p:spPr>
          <a:xfrm>
            <a:off x="804672" y="231343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Validaciones y doble-reserva imposible.</a:t>
            </a:r>
            <a:endParaRPr lang="en-US" sz="1250" dirty="0"/>
          </a:p>
        </p:txBody>
      </p:sp>
      <p:sp>
        <p:nvSpPr>
          <p:cNvPr id="7" name="Shape 5"/>
          <p:cNvSpPr/>
          <p:nvPr/>
        </p:nvSpPr>
        <p:spPr>
          <a:xfrm>
            <a:off x="4334256" y="1600200"/>
            <a:ext cx="3529584" cy="1600200"/>
          </a:xfrm>
          <a:prstGeom prst="roundRect">
            <a:avLst>
              <a:gd name="adj" fmla="val 5143"/>
            </a:avLst>
          </a:prstGeom>
          <a:solidFill>
            <a:srgbClr val="0E2A52"/>
          </a:solidFill>
          <a:ln w="12700">
            <a:solidFill>
              <a:srgbClr val="1B4A86"/>
            </a:solidFill>
            <a:prstDash val="solid"/>
          </a:ln>
        </p:spPr>
      </p:sp>
      <p:sp>
        <p:nvSpPr>
          <p:cNvPr id="8" name="Text 6"/>
          <p:cNvSpPr/>
          <p:nvPr/>
        </p:nvSpPr>
        <p:spPr>
          <a:xfrm>
            <a:off x="4590288" y="181965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Menos ausencias</a:t>
            </a:r>
            <a:endParaRPr lang="en-US" sz="1700" dirty="0"/>
          </a:p>
        </p:txBody>
      </p:sp>
      <p:sp>
        <p:nvSpPr>
          <p:cNvPr id="9" name="Text 7"/>
          <p:cNvSpPr/>
          <p:nvPr/>
        </p:nvSpPr>
        <p:spPr>
          <a:xfrm>
            <a:off x="4590288" y="231343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Recordatorios y confirmaciones automáticas.</a:t>
            </a:r>
            <a:endParaRPr lang="en-US" sz="1250" dirty="0"/>
          </a:p>
        </p:txBody>
      </p:sp>
      <p:sp>
        <p:nvSpPr>
          <p:cNvPr id="10" name="Shape 8"/>
          <p:cNvSpPr/>
          <p:nvPr/>
        </p:nvSpPr>
        <p:spPr>
          <a:xfrm>
            <a:off x="8119872" y="1600200"/>
            <a:ext cx="3529584" cy="1600200"/>
          </a:xfrm>
          <a:prstGeom prst="roundRect">
            <a:avLst>
              <a:gd name="adj" fmla="val 5143"/>
            </a:avLst>
          </a:prstGeom>
          <a:solidFill>
            <a:srgbClr val="0E2A52"/>
          </a:solidFill>
          <a:ln w="12700">
            <a:solidFill>
              <a:srgbClr val="1B4A86"/>
            </a:solidFill>
            <a:prstDash val="solid"/>
          </a:ln>
        </p:spPr>
      </p:sp>
      <p:sp>
        <p:nvSpPr>
          <p:cNvPr id="11" name="Text 9"/>
          <p:cNvSpPr/>
          <p:nvPr/>
        </p:nvSpPr>
        <p:spPr>
          <a:xfrm>
            <a:off x="8375904" y="181965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Más control</a:t>
            </a:r>
            <a:endParaRPr lang="en-US" sz="1700" dirty="0"/>
          </a:p>
        </p:txBody>
      </p:sp>
      <p:sp>
        <p:nvSpPr>
          <p:cNvPr id="12" name="Text 10"/>
          <p:cNvSpPr/>
          <p:nvPr/>
        </p:nvSpPr>
        <p:spPr>
          <a:xfrm>
            <a:off x="8375904" y="231343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Permisos por rol y auditoría de todo.</a:t>
            </a:r>
            <a:endParaRPr lang="en-US" sz="1250" dirty="0"/>
          </a:p>
        </p:txBody>
      </p:sp>
      <p:sp>
        <p:nvSpPr>
          <p:cNvPr id="13" name="Shape 11"/>
          <p:cNvSpPr/>
          <p:nvPr/>
        </p:nvSpPr>
        <p:spPr>
          <a:xfrm>
            <a:off x="548640" y="3474720"/>
            <a:ext cx="3529584" cy="1600200"/>
          </a:xfrm>
          <a:prstGeom prst="roundRect">
            <a:avLst>
              <a:gd name="adj" fmla="val 5143"/>
            </a:avLst>
          </a:prstGeom>
          <a:solidFill>
            <a:srgbClr val="0E2A52"/>
          </a:solidFill>
          <a:ln w="12700">
            <a:solidFill>
              <a:srgbClr val="1B4A86"/>
            </a:solidFill>
            <a:prstDash val="solid"/>
          </a:ln>
        </p:spPr>
      </p:sp>
      <p:sp>
        <p:nvSpPr>
          <p:cNvPr id="14" name="Text 12"/>
          <p:cNvSpPr/>
          <p:nvPr/>
        </p:nvSpPr>
        <p:spPr>
          <a:xfrm>
            <a:off x="804672" y="369417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Más ventas</a:t>
            </a:r>
            <a:endParaRPr lang="en-US" sz="1700" dirty="0"/>
          </a:p>
        </p:txBody>
      </p:sp>
      <p:sp>
        <p:nvSpPr>
          <p:cNvPr id="15" name="Text 13"/>
          <p:cNvSpPr/>
          <p:nvPr/>
        </p:nvSpPr>
        <p:spPr>
          <a:xfrm>
            <a:off x="804672" y="418795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Promociones y membresías bien gestionadas.</a:t>
            </a:r>
            <a:endParaRPr lang="en-US" sz="1250" dirty="0"/>
          </a:p>
        </p:txBody>
      </p:sp>
      <p:sp>
        <p:nvSpPr>
          <p:cNvPr id="16" name="Shape 14"/>
          <p:cNvSpPr/>
          <p:nvPr/>
        </p:nvSpPr>
        <p:spPr>
          <a:xfrm>
            <a:off x="4334256" y="3474720"/>
            <a:ext cx="3529584" cy="1600200"/>
          </a:xfrm>
          <a:prstGeom prst="roundRect">
            <a:avLst>
              <a:gd name="adj" fmla="val 5143"/>
            </a:avLst>
          </a:prstGeom>
          <a:solidFill>
            <a:srgbClr val="0E2A52"/>
          </a:solidFill>
          <a:ln w="12700">
            <a:solidFill>
              <a:srgbClr val="1B4A86"/>
            </a:solidFill>
            <a:prstDash val="solid"/>
          </a:ln>
        </p:spPr>
      </p:sp>
      <p:sp>
        <p:nvSpPr>
          <p:cNvPr id="17" name="Text 15"/>
          <p:cNvSpPr/>
          <p:nvPr/>
        </p:nvSpPr>
        <p:spPr>
          <a:xfrm>
            <a:off x="4590288" y="369417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Mejores decisiones</a:t>
            </a:r>
            <a:endParaRPr lang="en-US" sz="1700" dirty="0"/>
          </a:p>
        </p:txBody>
      </p:sp>
      <p:sp>
        <p:nvSpPr>
          <p:cNvPr id="18" name="Text 16"/>
          <p:cNvSpPr/>
          <p:nvPr/>
        </p:nvSpPr>
        <p:spPr>
          <a:xfrm>
            <a:off x="4590288" y="418795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KPIs y reportes en tiempo real.</a:t>
            </a:r>
            <a:endParaRPr lang="en-US" sz="1250" dirty="0"/>
          </a:p>
        </p:txBody>
      </p:sp>
      <p:sp>
        <p:nvSpPr>
          <p:cNvPr id="19" name="Shape 17"/>
          <p:cNvSpPr/>
          <p:nvPr/>
        </p:nvSpPr>
        <p:spPr>
          <a:xfrm>
            <a:off x="8119872" y="3474720"/>
            <a:ext cx="3529584" cy="1600200"/>
          </a:xfrm>
          <a:prstGeom prst="roundRect">
            <a:avLst>
              <a:gd name="adj" fmla="val 5143"/>
            </a:avLst>
          </a:prstGeom>
          <a:solidFill>
            <a:srgbClr val="0E2A52"/>
          </a:solidFill>
          <a:ln w="12700">
            <a:solidFill>
              <a:srgbClr val="1B4A86"/>
            </a:solidFill>
            <a:prstDash val="solid"/>
          </a:ln>
        </p:spPr>
      </p:sp>
      <p:sp>
        <p:nvSpPr>
          <p:cNvPr id="20" name="Text 18"/>
          <p:cNvSpPr/>
          <p:nvPr/>
        </p:nvSpPr>
        <p:spPr>
          <a:xfrm>
            <a:off x="8375904" y="3694176"/>
            <a:ext cx="3072384" cy="457200"/>
          </a:xfrm>
          <a:prstGeom prst="rect">
            <a:avLst/>
          </a:prstGeom>
          <a:noFill/>
          <a:ln/>
        </p:spPr>
        <p:txBody>
          <a:bodyPr wrap="square" lIns="0" tIns="0" rIns="0" bIns="0" rtlCol="0" anchor="ctr"/>
          <a:lstStyle/>
          <a:p>
            <a:pPr indent="0" marL="0">
              <a:buNone/>
            </a:pPr>
            <a:r>
              <a:rPr lang="en-US" sz="1700" b="1" dirty="0">
                <a:solidFill>
                  <a:srgbClr val="9DC0FF"/>
                </a:solidFill>
                <a:latin typeface="Calibri" pitchFamily="34" charset="0"/>
                <a:ea typeface="Calibri" pitchFamily="34" charset="-122"/>
                <a:cs typeface="Calibri" pitchFamily="34" charset="-120"/>
              </a:rPr>
              <a:t>Escalable</a:t>
            </a:r>
            <a:endParaRPr lang="en-US" sz="1700" dirty="0"/>
          </a:p>
        </p:txBody>
      </p:sp>
      <p:sp>
        <p:nvSpPr>
          <p:cNvPr id="21" name="Text 19"/>
          <p:cNvSpPr/>
          <p:nvPr/>
        </p:nvSpPr>
        <p:spPr>
          <a:xfrm>
            <a:off x="8375904" y="4187952"/>
            <a:ext cx="3017520" cy="777240"/>
          </a:xfrm>
          <a:prstGeom prst="rect">
            <a:avLst/>
          </a:prstGeom>
          <a:noFill/>
          <a:ln/>
        </p:spPr>
        <p:txBody>
          <a:bodyPr wrap="square" lIns="0" tIns="0" rIns="0" bIns="0" rtlCol="0" anchor="t"/>
          <a:lstStyle/>
          <a:p>
            <a:pPr indent="0" marL="0">
              <a:lnSpc>
                <a:spcPct val="115000"/>
              </a:lnSpc>
              <a:buNone/>
            </a:pPr>
            <a:r>
              <a:rPr lang="en-US" sz="1250" dirty="0">
                <a:solidFill>
                  <a:srgbClr val="DCE7F7"/>
                </a:solidFill>
                <a:latin typeface="Calibri" pitchFamily="34" charset="0"/>
                <a:ea typeface="Calibri" pitchFamily="34" charset="-122"/>
                <a:cs typeface="Calibri" pitchFamily="34" charset="-120"/>
              </a:rPr>
              <a:t>Una plataforma para las 5 sedes y las que vengan.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057D9"/>
                </a:solidFill>
                <a:latin typeface="Calibri" pitchFamily="34" charset="0"/>
                <a:ea typeface="Calibri" pitchFamily="34" charset="-122"/>
                <a:cs typeface="Calibri" pitchFamily="34" charset="-120"/>
              </a:rPr>
              <a:t>AHORA SÍ</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2900" b="1" dirty="0">
                <a:solidFill>
                  <a:srgbClr val="0B2F5E"/>
                </a:solidFill>
                <a:latin typeface="Cambria" pitchFamily="34" charset="0"/>
                <a:ea typeface="Cambria" pitchFamily="34" charset="-122"/>
                <a:cs typeface="Cambria" pitchFamily="34" charset="-120"/>
              </a:rPr>
              <a:t>Demostración en vivo · recorrido sugerido</a:t>
            </a:r>
            <a:endParaRPr lang="en-US" sz="2900" dirty="0"/>
          </a:p>
        </p:txBody>
      </p:sp>
      <p:sp>
        <p:nvSpPr>
          <p:cNvPr id="4" name="Shape 2"/>
          <p:cNvSpPr/>
          <p:nvPr/>
        </p:nvSpPr>
        <p:spPr>
          <a:xfrm>
            <a:off x="640080" y="1737360"/>
            <a:ext cx="475488" cy="475488"/>
          </a:xfrm>
          <a:prstGeom prst="ellipse">
            <a:avLst/>
          </a:prstGeom>
          <a:solidFill>
            <a:srgbClr val="0057D9"/>
          </a:solidFill>
          <a:ln/>
        </p:spPr>
      </p:sp>
      <p:sp>
        <p:nvSpPr>
          <p:cNvPr id="5" name="Text 3"/>
          <p:cNvSpPr/>
          <p:nvPr/>
        </p:nvSpPr>
        <p:spPr>
          <a:xfrm>
            <a:off x="640080" y="17373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80160" y="1691640"/>
            <a:ext cx="10241280" cy="566928"/>
          </a:xfrm>
          <a:prstGeom prst="rect">
            <a:avLst/>
          </a:prstGeom>
          <a:noFill/>
          <a:ln/>
        </p:spPr>
        <p:txBody>
          <a:bodyPr wrap="square" lIns="0" tIns="0" rIns="0" bIns="0" rtlCol="0" anchor="ctr"/>
          <a:lstStyle/>
          <a:p>
            <a:pPr indent="0" marL="0">
              <a:buNone/>
            </a:pPr>
            <a:r>
              <a:rPr lang="en-US" sz="1350" b="1" dirty="0">
                <a:solidFill>
                  <a:srgbClr val="0B2F5E"/>
                </a:solidFill>
                <a:latin typeface="Calibri" pitchFamily="34" charset="0"/>
                <a:ea typeface="Calibri" pitchFamily="34" charset="-122"/>
                <a:cs typeface="Calibri" pitchFamily="34" charset="-120"/>
              </a:rPr>
              <a:t>Iniciar sesión y abrir la Agenda   </a:t>
            </a:r>
            <a:pPr indent="0" marL="0">
              <a:buNone/>
            </a:pPr>
            <a:r>
              <a:rPr lang="en-US" sz="1350" dirty="0">
                <a:solidFill>
                  <a:srgbClr val="5C6B7A"/>
                </a:solidFill>
                <a:latin typeface="Calibri" pitchFamily="34" charset="0"/>
                <a:ea typeface="Calibri" pitchFamily="34" charset="-122"/>
                <a:cs typeface="Calibri" pitchFamily="34" charset="-120"/>
              </a:rPr>
              <a:t>Mostrar las sedes, el día y las columnas por profesional.</a:t>
            </a:r>
            <a:endParaRPr lang="en-US" sz="1350" dirty="0"/>
          </a:p>
        </p:txBody>
      </p:sp>
      <p:sp>
        <p:nvSpPr>
          <p:cNvPr id="7" name="Shape 5"/>
          <p:cNvSpPr/>
          <p:nvPr/>
        </p:nvSpPr>
        <p:spPr>
          <a:xfrm>
            <a:off x="640080" y="2606040"/>
            <a:ext cx="475488" cy="475488"/>
          </a:xfrm>
          <a:prstGeom prst="ellipse">
            <a:avLst/>
          </a:prstGeom>
          <a:solidFill>
            <a:srgbClr val="0B2F5E"/>
          </a:solidFill>
          <a:ln/>
        </p:spPr>
      </p:sp>
      <p:sp>
        <p:nvSpPr>
          <p:cNvPr id="8" name="Text 6"/>
          <p:cNvSpPr/>
          <p:nvPr/>
        </p:nvSpPr>
        <p:spPr>
          <a:xfrm>
            <a:off x="640080" y="26060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80160" y="2560320"/>
            <a:ext cx="10241280" cy="566928"/>
          </a:xfrm>
          <a:prstGeom prst="rect">
            <a:avLst/>
          </a:prstGeom>
          <a:noFill/>
          <a:ln/>
        </p:spPr>
        <p:txBody>
          <a:bodyPr wrap="square" lIns="0" tIns="0" rIns="0" bIns="0" rtlCol="0" anchor="ctr"/>
          <a:lstStyle/>
          <a:p>
            <a:pPr indent="0" marL="0">
              <a:buNone/>
            </a:pPr>
            <a:r>
              <a:rPr lang="en-US" sz="1350" b="1" dirty="0">
                <a:solidFill>
                  <a:srgbClr val="0B2F5E"/>
                </a:solidFill>
                <a:latin typeface="Calibri" pitchFamily="34" charset="0"/>
                <a:ea typeface="Calibri" pitchFamily="34" charset="-122"/>
                <a:cs typeface="Calibri" pitchFamily="34" charset="-120"/>
              </a:rPr>
              <a:t>Agendar una cita nueva   </a:t>
            </a:r>
            <a:pPr indent="0" marL="0">
              <a:buNone/>
            </a:pPr>
            <a:r>
              <a:rPr lang="en-US" sz="1350" dirty="0">
                <a:solidFill>
                  <a:srgbClr val="5C6B7A"/>
                </a:solidFill>
                <a:latin typeface="Calibri" pitchFamily="34" charset="0"/>
                <a:ea typeface="Calibri" pitchFamily="34" charset="-122"/>
                <a:cs typeface="Calibri" pitchFamily="34" charset="-120"/>
              </a:rPr>
              <a:t>Elegir hueco, buscar paciente (o crear con DNI), servicio y guardar.</a:t>
            </a:r>
            <a:endParaRPr lang="en-US" sz="1350" dirty="0"/>
          </a:p>
        </p:txBody>
      </p:sp>
      <p:sp>
        <p:nvSpPr>
          <p:cNvPr id="10" name="Shape 8"/>
          <p:cNvSpPr/>
          <p:nvPr/>
        </p:nvSpPr>
        <p:spPr>
          <a:xfrm>
            <a:off x="640080" y="3474720"/>
            <a:ext cx="475488" cy="475488"/>
          </a:xfrm>
          <a:prstGeom prst="ellipse">
            <a:avLst/>
          </a:prstGeom>
          <a:solidFill>
            <a:srgbClr val="0E7C86"/>
          </a:solidFill>
          <a:ln/>
        </p:spPr>
      </p:sp>
      <p:sp>
        <p:nvSpPr>
          <p:cNvPr id="11" name="Text 9"/>
          <p:cNvSpPr/>
          <p:nvPr/>
        </p:nvSpPr>
        <p:spPr>
          <a:xfrm>
            <a:off x="640080" y="34747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80160" y="3429000"/>
            <a:ext cx="10241280" cy="566928"/>
          </a:xfrm>
          <a:prstGeom prst="rect">
            <a:avLst/>
          </a:prstGeom>
          <a:noFill/>
          <a:ln/>
        </p:spPr>
        <p:txBody>
          <a:bodyPr wrap="square" lIns="0" tIns="0" rIns="0" bIns="0" rtlCol="0" anchor="ctr"/>
          <a:lstStyle/>
          <a:p>
            <a:pPr indent="0" marL="0">
              <a:buNone/>
            </a:pPr>
            <a:r>
              <a:rPr lang="en-US" sz="1350" b="1" dirty="0">
                <a:solidFill>
                  <a:srgbClr val="0B2F5E"/>
                </a:solidFill>
                <a:latin typeface="Calibri" pitchFamily="34" charset="0"/>
                <a:ea typeface="Calibri" pitchFamily="34" charset="-122"/>
                <a:cs typeface="Calibri" pitchFamily="34" charset="-120"/>
              </a:rPr>
              <a:t>Gestionar la cita   </a:t>
            </a:r>
            <a:pPr indent="0" marL="0">
              <a:buNone/>
            </a:pPr>
            <a:r>
              <a:rPr lang="en-US" sz="1350" dirty="0">
                <a:solidFill>
                  <a:srgbClr val="5C6B7A"/>
                </a:solidFill>
                <a:latin typeface="Calibri" pitchFamily="34" charset="0"/>
                <a:ea typeface="Calibri" pitchFamily="34" charset="-122"/>
                <a:cs typeface="Calibri" pitchFamily="34" charset="-120"/>
              </a:rPr>
              <a:t>Marcar “llegó”, agregar un comentario, ver el detalle.</a:t>
            </a:r>
            <a:endParaRPr lang="en-US" sz="1350" dirty="0"/>
          </a:p>
        </p:txBody>
      </p:sp>
      <p:sp>
        <p:nvSpPr>
          <p:cNvPr id="13" name="Shape 11"/>
          <p:cNvSpPr/>
          <p:nvPr/>
        </p:nvSpPr>
        <p:spPr>
          <a:xfrm>
            <a:off x="640080" y="4343400"/>
            <a:ext cx="475488" cy="475488"/>
          </a:xfrm>
          <a:prstGeom prst="ellipse">
            <a:avLst/>
          </a:prstGeom>
          <a:solidFill>
            <a:srgbClr val="1E9E6A"/>
          </a:solidFill>
          <a:ln/>
        </p:spPr>
      </p:sp>
      <p:sp>
        <p:nvSpPr>
          <p:cNvPr id="14" name="Text 12"/>
          <p:cNvSpPr/>
          <p:nvPr/>
        </p:nvSpPr>
        <p:spPr>
          <a:xfrm>
            <a:off x="640080" y="43434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80160" y="4297680"/>
            <a:ext cx="10241280" cy="566928"/>
          </a:xfrm>
          <a:prstGeom prst="rect">
            <a:avLst/>
          </a:prstGeom>
          <a:noFill/>
          <a:ln/>
        </p:spPr>
        <p:txBody>
          <a:bodyPr wrap="square" lIns="0" tIns="0" rIns="0" bIns="0" rtlCol="0" anchor="ctr"/>
          <a:lstStyle/>
          <a:p>
            <a:pPr indent="0" marL="0">
              <a:buNone/>
            </a:pPr>
            <a:r>
              <a:rPr lang="en-US" sz="1350" b="1" dirty="0">
                <a:solidFill>
                  <a:srgbClr val="0B2F5E"/>
                </a:solidFill>
                <a:latin typeface="Calibri" pitchFamily="34" charset="0"/>
                <a:ea typeface="Calibri" pitchFamily="34" charset="-122"/>
                <a:cs typeface="Calibri" pitchFamily="34" charset="-120"/>
              </a:rPr>
              <a:t>Ficha del paciente   </a:t>
            </a:r>
            <a:pPr indent="0" marL="0">
              <a:buNone/>
            </a:pPr>
            <a:r>
              <a:rPr lang="en-US" sz="1350" dirty="0">
                <a:solidFill>
                  <a:srgbClr val="5C6B7A"/>
                </a:solidFill>
                <a:latin typeface="Calibri" pitchFamily="34" charset="0"/>
                <a:ea typeface="Calibri" pitchFamily="34" charset="-122"/>
                <a:cs typeface="Calibri" pitchFamily="34" charset="-120"/>
              </a:rPr>
              <a:t>Historial, saldo de paquetes y alertas.</a:t>
            </a:r>
            <a:endParaRPr lang="en-US" sz="1350" dirty="0"/>
          </a:p>
        </p:txBody>
      </p:sp>
      <p:sp>
        <p:nvSpPr>
          <p:cNvPr id="16" name="Shape 14"/>
          <p:cNvSpPr/>
          <p:nvPr/>
        </p:nvSpPr>
        <p:spPr>
          <a:xfrm>
            <a:off x="640080" y="5212080"/>
            <a:ext cx="475488" cy="475488"/>
          </a:xfrm>
          <a:prstGeom prst="ellipse">
            <a:avLst/>
          </a:prstGeom>
          <a:solidFill>
            <a:srgbClr val="C77700"/>
          </a:solidFill>
          <a:ln/>
        </p:spPr>
      </p:sp>
      <p:sp>
        <p:nvSpPr>
          <p:cNvPr id="17" name="Text 15"/>
          <p:cNvSpPr/>
          <p:nvPr/>
        </p:nvSpPr>
        <p:spPr>
          <a:xfrm>
            <a:off x="640080" y="5212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80160" y="5166360"/>
            <a:ext cx="10241280" cy="566928"/>
          </a:xfrm>
          <a:prstGeom prst="rect">
            <a:avLst/>
          </a:prstGeom>
          <a:noFill/>
          <a:ln/>
        </p:spPr>
        <p:txBody>
          <a:bodyPr wrap="square" lIns="0" tIns="0" rIns="0" bIns="0" rtlCol="0" anchor="ctr"/>
          <a:lstStyle/>
          <a:p>
            <a:pPr indent="0" marL="0">
              <a:buNone/>
            </a:pPr>
            <a:r>
              <a:rPr lang="en-US" sz="1350" b="1" dirty="0">
                <a:solidFill>
                  <a:srgbClr val="0B2F5E"/>
                </a:solidFill>
                <a:latin typeface="Calibri" pitchFamily="34" charset="0"/>
                <a:ea typeface="Calibri" pitchFamily="34" charset="-122"/>
                <a:cs typeface="Calibri" pitchFamily="34" charset="-120"/>
              </a:rPr>
              <a:t>Reportes / Analytics   </a:t>
            </a:r>
            <a:pPr indent="0" marL="0">
              <a:buNone/>
            </a:pPr>
            <a:r>
              <a:rPr lang="en-US" sz="1350" dirty="0">
                <a:solidFill>
                  <a:srgbClr val="5C6B7A"/>
                </a:solidFill>
                <a:latin typeface="Calibri" pitchFamily="34" charset="0"/>
                <a:ea typeface="Calibri" pitchFamily="34" charset="-122"/>
                <a:cs typeface="Calibri" pitchFamily="34" charset="-120"/>
              </a:rPr>
              <a:t>Un par de indicadores para cerrar con impacto.</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1D3A"/>
        </a:solidFill>
      </p:bgPr>
    </p:bg>
    <p:spTree>
      <p:nvGrpSpPr>
        <p:cNvPr id="1" name=""/>
        <p:cNvGrpSpPr/>
        <p:nvPr/>
      </p:nvGrpSpPr>
      <p:grpSpPr>
        <a:xfrm>
          <a:off x="0" y="0"/>
          <a:ext cx="0" cy="0"/>
          <a:chOff x="0" y="0"/>
          <a:chExt cx="0" cy="0"/>
        </a:xfrm>
      </p:grpSpPr>
      <p:sp>
        <p:nvSpPr>
          <p:cNvPr id="2" name="Shape 0"/>
          <p:cNvSpPr/>
          <p:nvPr/>
        </p:nvSpPr>
        <p:spPr>
          <a:xfrm>
            <a:off x="-1554480" y="3931920"/>
            <a:ext cx="4754880" cy="4754880"/>
          </a:xfrm>
          <a:prstGeom prst="ellipse">
            <a:avLst/>
          </a:prstGeom>
          <a:solidFill>
            <a:srgbClr val="0E2A52"/>
          </a:solidFill>
          <a:ln/>
        </p:spPr>
      </p:sp>
      <p:sp>
        <p:nvSpPr>
          <p:cNvPr id="3" name="Text 1"/>
          <p:cNvSpPr/>
          <p:nvPr/>
        </p:nvSpPr>
        <p:spPr>
          <a:xfrm>
            <a:off x="731520" y="1371600"/>
            <a:ext cx="10058400" cy="365760"/>
          </a:xfrm>
          <a:prstGeom prst="rect">
            <a:avLst/>
          </a:prstGeom>
          <a:noFill/>
          <a:ln/>
        </p:spPr>
        <p:txBody>
          <a:bodyPr wrap="square" lIns="0" tIns="0" rIns="0" bIns="0" rtlCol="0" anchor="ctr"/>
          <a:lstStyle/>
          <a:p>
            <a:pPr indent="0" marL="0">
              <a:buNone/>
            </a:pPr>
            <a:r>
              <a:rPr lang="en-US" sz="1300" b="1" spc="200" kern="0" dirty="0">
                <a:solidFill>
                  <a:srgbClr val="7FB0FF"/>
                </a:solidFill>
                <a:latin typeface="Calibri" pitchFamily="34" charset="0"/>
                <a:ea typeface="Calibri" pitchFamily="34" charset="-122"/>
                <a:cs typeface="Calibri" pitchFamily="34" charset="-120"/>
              </a:rPr>
              <a:t>CIERRE</a:t>
            </a:r>
            <a:endParaRPr lang="en-US" sz="1300" dirty="0"/>
          </a:p>
        </p:txBody>
      </p:sp>
      <p:sp>
        <p:nvSpPr>
          <p:cNvPr id="4" name="Text 2"/>
          <p:cNvSpPr/>
          <p:nvPr/>
        </p:nvSpPr>
        <p:spPr>
          <a:xfrm>
            <a:off x="731520" y="1828800"/>
            <a:ext cx="10698480" cy="146304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Un sistema propio, a la medida, listo para crecer con Limablue.</a:t>
            </a:r>
            <a:endParaRPr lang="en-US" sz="3000" dirty="0"/>
          </a:p>
        </p:txBody>
      </p:sp>
      <p:sp>
        <p:nvSpPr>
          <p:cNvPr id="5" name="Text 3"/>
          <p:cNvSpPr/>
          <p:nvPr/>
        </p:nvSpPr>
        <p:spPr>
          <a:xfrm>
            <a:off x="731520" y="3749040"/>
            <a:ext cx="10607040" cy="1097280"/>
          </a:xfrm>
          <a:prstGeom prst="rect">
            <a:avLst/>
          </a:prstGeom>
          <a:noFill/>
          <a:ln/>
        </p:spPr>
        <p:txBody>
          <a:bodyPr wrap="square" lIns="0" tIns="0" rIns="0" bIns="0" rtlCol="0" anchor="t"/>
          <a:lstStyle/>
          <a:p>
            <a:pPr indent="0" marL="0">
              <a:lnSpc>
                <a:spcPct val="130000"/>
              </a:lnSpc>
              <a:buNone/>
            </a:pPr>
            <a:r>
              <a:rPr lang="en-US" sz="1500" b="1" dirty="0">
                <a:solidFill>
                  <a:srgbClr val="9DC0FF"/>
                </a:solidFill>
                <a:latin typeface="Calibri" pitchFamily="34" charset="0"/>
                <a:ea typeface="Calibri" pitchFamily="34" charset="-122"/>
                <a:cs typeface="Calibri" pitchFamily="34" charset="-120"/>
              </a:rPr>
              <a:t>Próximos pasos sugeridos</a:t>
            </a:r>
            <a:endParaRPr lang="en-US" sz="1500" dirty="0"/>
          </a:p>
          <a:p>
            <a:pPr indent="0" marL="0">
              <a:lnSpc>
                <a:spcPct val="130000"/>
              </a:lnSpc>
              <a:buNone/>
            </a:pPr>
            <a:r>
              <a:rPr lang="en-US" sz="1400" dirty="0">
                <a:solidFill>
                  <a:srgbClr val="DCE7F7"/>
                </a:solidFill>
                <a:latin typeface="Calibri" pitchFamily="34" charset="0"/>
                <a:ea typeface="Calibri" pitchFamily="34" charset="-122"/>
                <a:cs typeface="Calibri" pitchFamily="34" charset="-120"/>
              </a:rPr>
              <a:t>Capacitación a recepción · puesta en marcha por sede · seguimiento de indicadores las primeras semanas.</a:t>
            </a:r>
            <a:endParaRPr lang="en-US" sz="1500" dirty="0"/>
          </a:p>
        </p:txBody>
      </p:sp>
      <p:sp>
        <p:nvSpPr>
          <p:cNvPr id="6" name="Text 4"/>
          <p:cNvSpPr/>
          <p:nvPr/>
        </p:nvSpPr>
        <p:spPr>
          <a:xfrm>
            <a:off x="731520" y="5669280"/>
            <a:ext cx="1060704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Gracias · Preguntas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2026-08-11T16:28:37Z</dcterms:created>
  <dcterms:modified xsi:type="dcterms:W3CDTF">2026-08-11T16:28:37Z</dcterms:modified>
</cp:coreProperties>
</file>