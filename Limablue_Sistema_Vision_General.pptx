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Citas</c:v>
                </c:pt>
              </c:strCache>
            </c:strRef>
          </c:tx>
          <c:spPr>
            <a:solidFill>
              <a:srgbClr val="0057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F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Paz Soldán</c:v>
                  </c:pt>
                  <c:pt idx="1">
                    <c:v>Lince</c:v>
                  </c:pt>
                  <c:pt idx="2">
                    <c:v>San Miguel</c:v>
                  </c:pt>
                  <c:pt idx="3">
                    <c:v>Los Olivos</c:v>
                  </c:pt>
                  <c:pt idx="4">
                    <c:v>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</c:v>
                </c:pt>
                <c:pt idx="1">
                  <c:v>120</c:v>
                </c:pt>
                <c:pt idx="2">
                  <c:v>83</c:v>
                </c:pt>
                <c:pt idx="3">
                  <c:v>81</c:v>
                </c:pt>
                <c:pt idx="4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F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2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4937760" cy="493776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108960" cy="3108960"/>
          </a:xfrm>
          <a:prstGeom prst="ellipse">
            <a:avLst/>
          </a:prstGeom>
          <a:solidFill>
            <a:srgbClr val="0E2A5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LIMABLUE · AGENDA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General del Sistema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hace, sus módulos y funciones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agendamiento clínico · Salud del pie · Lima, Perú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Limablue Agenda?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agendamiento y gestión clínica que reemplaza un ERP de escritorio de 14 años. Centraliza citas, pacientes, servicios, personal, comunicaciones y reportes de las 5 sedes en una sola plataforma web en tiempo real.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8152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9856" y="288036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B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308152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11296" y="3794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al día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91072" y="288036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308152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82512" y="3794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podólogos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62288" y="288036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ED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9253728" y="308152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7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real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53728" y="3794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multiusuario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0B2F5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(frontend) · Node + Express + TypeScript (backend) · PostgreSQL + Prisma · Redis (caché y cerrojos) · Socket.io (tiempo real) · colas para correos y videos.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sistema: 10 grandes áreas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8928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por sede, día y profesional, en tiempo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5496" y="169164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3008376" y="1874520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5304" y="18928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citas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44952" y="240487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Estados, reprogramar, cancelar, comentarios.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02352" y="169164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18745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18928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21808" y="240487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Fichas, historial, saldos, alertas, DNI.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79208" y="169164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62088" y="1874520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756208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9016" y="18928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planes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98664" y="240487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paquetes y membresías con contrato.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56064" y="169164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838944" y="187452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26" name="Text 24"/>
          <p:cNvSpPr/>
          <p:nvPr/>
        </p:nvSpPr>
        <p:spPr>
          <a:xfrm>
            <a:off x="98389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05872" y="189280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75520" y="2404872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con reglas y reporte de uso.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73075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913632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8448" y="39319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8096" y="4443984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almuerzos, sede, movimientos, baro.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25496" y="373075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35" name="Shape 33"/>
          <p:cNvSpPr/>
          <p:nvPr/>
        </p:nvSpPr>
        <p:spPr>
          <a:xfrm>
            <a:off x="3008376" y="3913632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6" name="Text 34"/>
          <p:cNvSpPr/>
          <p:nvPr/>
        </p:nvSpPr>
        <p:spPr>
          <a:xfrm>
            <a:off x="300837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75304" y="39319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044952" y="4443984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roles, permisos, auditoría.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02352" y="373075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40" name="Shape 38"/>
          <p:cNvSpPr/>
          <p:nvPr/>
        </p:nvSpPr>
        <p:spPr>
          <a:xfrm>
            <a:off x="5285232" y="391363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1" name="Text 39"/>
          <p:cNvSpPr/>
          <p:nvPr/>
        </p:nvSpPr>
        <p:spPr>
          <a:xfrm>
            <a:off x="528523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52160" y="39319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321808" y="4443984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Correos, videos y WhatsApp al paciente.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79208" y="373075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562088" y="3913632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46" name="Text 44"/>
          <p:cNvSpPr/>
          <p:nvPr/>
        </p:nvSpPr>
        <p:spPr>
          <a:xfrm>
            <a:off x="756208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29016" y="39319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598664" y="4443984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tendencias y desempeño.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656064" y="3730752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DF3FB"/>
          </a:solidFill>
          <a:ln/>
        </p:spPr>
      </p:sp>
      <p:sp>
        <p:nvSpPr>
          <p:cNvPr id="50" name="Shape 48"/>
          <p:cNvSpPr/>
          <p:nvPr/>
        </p:nvSpPr>
        <p:spPr>
          <a:xfrm>
            <a:off x="9838944" y="3913632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51" name="Text 49"/>
          <p:cNvSpPr/>
          <p:nvPr/>
        </p:nvSpPr>
        <p:spPr>
          <a:xfrm>
            <a:off x="9838944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405872" y="39319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875520" y="4443984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permisos y respaldo cifrado.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NÚCLEO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diaria multi-sede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columnas: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carril por profesional, con el horario de la sede.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Podología y baropodometría: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unidades desde la misma vista.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horas: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franjas de 30 min (9:30, 10:30…).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y soltar: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 una cita moviéndola.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cita en el sitio: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 espacio libre para agendar.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a color: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agendada, llegó, en atención, completada, no-show.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2112264"/>
            <a:ext cx="5285232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agenda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48840"/>
            <a:ext cx="521208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NÚCLEO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la cita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agendada → confirmada → llegó → en atención → completada.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y cancelación: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motivo; liberan el espacio.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disponibilidad real (turnos, permisos, almuerzos).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 notas append-only por cita.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Consultorio, canal y promoción: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editables sobre la cita.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pago: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imagen o PDF.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detalle_cita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rápida: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consulta de DNI (RENIEC/PeruDevs) que autocompleta nombres, sexo y fecha de nacimiento.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Anti-duplicado: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si el paciente ya existe.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nombre, DNI o teléfono, con historial de citas.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notas, saldo de paquetes y membresías.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quien no asiste o reprograma con frecuencia.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captación: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llegó el paciente.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nuevo_paciente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Servicios, paquetes y membresías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servicios: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categorías y subcategorías (p. ej. Profilaxis Regular/Premium).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ancla + extra en un solo bloque de 1 hora.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sesiones: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saldo y consumo por cita.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con varios servicios y cupos por ítem.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en PDF: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con datos del cliente autocolocados.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 vendidas: 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con precio, descuento y monto final.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2112264"/>
            <a:ext cx="5285232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servicios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48840"/>
            <a:ext cx="521208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configurables: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servicio, sede, día de la semana y canal.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y cupos: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cupo total y límite por paciente.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/ convenio: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la recepción ingresa; “solo nuevos”.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inteligente: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solo ofrece la promo que califica.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mezcla con membresía: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 garantizada.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uso: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usos, descontado y facturado por promoción.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1883664"/>
            <a:ext cx="5285232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m_promo_editor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20240"/>
            <a:ext cx="52120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DIARIA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8928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sede, de personal y de entrada.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3557016" y="1874520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3944" y="18928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93592" y="24048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Feriados, cierres y aperturas puntuales.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2512" y="18745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18928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4048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 o mes, evitando choques con citas.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208008" y="1874520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74936" y="18928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sede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44584" y="24048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por especialidad; PDF.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0215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85032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37033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8096" y="4215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Reubicar profesionales entre sedes.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74136" y="350215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3557016" y="3685032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23944" y="37033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Baropodometría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93592" y="4215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por sede, con disponibilidad.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350215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2512" y="3685032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440" y="37033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19088" y="4215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que se agendan juntos.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25128" y="350215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3FB"/>
          </a:solidFill>
          <a:ln/>
        </p:spPr>
      </p:sp>
      <p:sp>
        <p:nvSpPr>
          <p:cNvPr id="40" name="Shape 38"/>
          <p:cNvSpPr/>
          <p:nvPr/>
        </p:nvSpPr>
        <p:spPr>
          <a:xfrm>
            <a:off x="9208008" y="368503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74936" y="37033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44584" y="4215384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operativo de la agenda.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altas, edición y desactivación (con protección del admin).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permisos por módulo, editables por rol.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servicios realiza cada profesional.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Podólogas y servicios: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del personal y del servicio.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hizo qué, cuándo y desde qué IP (antes/después).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Notificaciones:  </a:t>
            </a:r>
            <a:pPr indent="0" marL="0">
              <a:spcAft>
                <a:spcPts val="11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internos del sistema.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64224" y="2112264"/>
            <a:ext cx="5285232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C">
                <a:alpha val="40000"/>
              </a:srgbClr>
            </a:outerShdw>
          </a:effectLst>
        </p:spPr>
      </p:sp>
      <p:pic>
        <p:nvPicPr>
          <p:cNvPr id="6" name="Image 0" descr="C:\Users\User\AppData\Local\Temp\claude\C--Users-User-Documents-Desarrollo-LimaBlue-Agenda-lb\6fb09147-029e-4371-b3e8-9a088b80b203\scratchpad\shots\auditoria_nuev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48840"/>
            <a:ext cx="5212080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 EL PACIENTE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Comunicaciones automáticas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" cy="512064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16736" y="174650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reserva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agendar, con enlaces para Confirmar o Cancelar.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12064" cy="512064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6736" y="270662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antes de la cita (con tope diario de envíos).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6736" y="366674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al paciente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/ durante / después, con baja voluntaria (opt-out).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512064" cy="512064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63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16736" y="462686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“Reprogramar” en el recordatorio.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D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correo con proveedor Resend + confirmación de entrega por webhook firmado; los envíos programados usan colas para no perder mensajes.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y reportes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ocupación, asistencia, no-shows y más.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sede, profesional, servicio, canal y promoción.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y tendencia: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pico y evolución en el tiempo.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nuevos: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por periodo y canal.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de agentes: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por recepción.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35040" y="1783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citas por sede (un día)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0" y="214884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Integraciones externas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RENIEC / PeruDevs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DNI: nombres, sexo y fecha de nacimiento.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4064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correos y webhooks de entrega.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Calendar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9328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citas de médicos con su calendario.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Gmail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para la cuenta remitente de correo.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17136" y="393192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84064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Genexis (import)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historial del sistema anterior.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19872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3931920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/ API Keys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9328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salientes firmadas y claves de acceso.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110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500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TailwindCSS. Interfaz en español (Perú), responsive.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6916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9110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0288" y="23500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+ TypeScript estricto. API REST /api/v1.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5904" y="19110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5904" y="23500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 Prisma. Migraciones versionadas; soft delete.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684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4407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 disponibilidad y cerrojos anti doble-reserva.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4256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9684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0288" y="4407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Socket.io: la agenda se actualiza al instante entre usuarios.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19872" y="3749040"/>
            <a:ext cx="3529584" cy="1783080"/>
          </a:xfrm>
          <a:prstGeom prst="roundRect">
            <a:avLst>
              <a:gd name="adj" fmla="val 4615"/>
            </a:avLst>
          </a:prstGeom>
          <a:solidFill>
            <a:srgbClr val="0E2A52"/>
          </a:solidFill>
          <a:ln w="12700">
            <a:solidFill>
              <a:srgbClr val="1B4A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396849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4407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 correos y videos sin bloquear ni perder envíos.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(bcrypt); sesión revalidada en cada acción.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0057D9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4064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permisos por módulo, validados en el servidor.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92024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9385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fuerza bruta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9328" y="2450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intentos de login y de consultas de DNI por IP.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1E9E6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protegidos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+ guardrail anti-inyección SQL.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17136" y="39319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84064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reserva imposible: cerrojo + índices + idempotencia.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19872" y="374904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D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3931920"/>
            <a:ext cx="457200" cy="457200"/>
          </a:xfrm>
          <a:prstGeom prst="ellipse">
            <a:avLst/>
          </a:prstGeom>
          <a:solidFill>
            <a:srgbClr val="0B2F5E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95020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cifrado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9328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nocturna con AES-256; clave fuera del repositorio.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931920"/>
            <a:ext cx="4754880" cy="4754880"/>
          </a:xfrm>
          <a:prstGeom prst="ellipse">
            <a:avLst/>
          </a:prstGeom>
          <a:solidFill>
            <a:srgbClr val="0E2A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Agenda, pacientes, servicios, personal, comunicaciones y reportes — de las 5 sedes, en tiempo real.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Limablue Agenda · Visión General del Sistema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2026-08-11T15:51:17Z</dcterms:created>
  <dcterms:modified xsi:type="dcterms:W3CDTF">2026-08-11T15:51:17Z</dcterms:modified>
</cp:coreProperties>
</file>