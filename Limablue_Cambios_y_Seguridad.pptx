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4754880" cy="4754880"/>
          </a:xfrm>
          <a:prstGeom prst="ellipse">
            <a:avLst/>
          </a:prstGeom>
          <a:solidFill>
            <a:srgbClr val="0B2F5E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291840" cy="3291840"/>
          </a:xfrm>
          <a:prstGeom prst="ellipse">
            <a:avLst/>
          </a:prstGeom>
          <a:solidFill>
            <a:srgbClr val="0E2A5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7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LIMABLUE · AGENDA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Informe de Cambios y Seguridad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49808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Principal frente a la Versión Anterior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9808" y="5394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D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agendamiento · 5 sedes · ~400 citas/día · 40 podólogos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7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 agosto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magnitud del cambio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15184" cy="1737360"/>
          </a:xfrm>
          <a:prstGeom prst="roundRect">
            <a:avLst>
              <a:gd name="adj" fmla="val 4737"/>
            </a:avLst>
          </a:prstGeom>
          <a:solidFill>
            <a:srgbClr val="EDF3F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93392"/>
            <a:ext cx="2432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57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de desarrollo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19856" y="1737360"/>
            <a:ext cx="2615184" cy="1737360"/>
          </a:xfrm>
          <a:prstGeom prst="roundRect">
            <a:avLst>
              <a:gd name="adj" fmla="val 4737"/>
            </a:avLst>
          </a:prstGeom>
          <a:solidFill>
            <a:srgbClr val="EDF3FB"/>
          </a:solidFill>
          <a:ln/>
        </p:spPr>
      </p:sp>
      <p:sp>
        <p:nvSpPr>
          <p:cNvPr id="8" name="Text 6"/>
          <p:cNvSpPr/>
          <p:nvPr/>
        </p:nvSpPr>
        <p:spPr>
          <a:xfrm>
            <a:off x="3511296" y="1993392"/>
            <a:ext cx="2432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2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+22 690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11296" y="288036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 añadidas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91072" y="1737360"/>
            <a:ext cx="2615184" cy="1737360"/>
          </a:xfrm>
          <a:prstGeom prst="roundRect">
            <a:avLst>
              <a:gd name="adj" fmla="val 4737"/>
            </a:avLst>
          </a:prstGeom>
          <a:solidFill>
            <a:srgbClr val="EDF3FB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993392"/>
            <a:ext cx="2432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9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82512" y="288036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modales auditados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62288" y="1737360"/>
            <a:ext cx="2615184" cy="1737360"/>
          </a:xfrm>
          <a:prstGeom prst="roundRect">
            <a:avLst>
              <a:gd name="adj" fmla="val 4737"/>
            </a:avLst>
          </a:prstGeom>
          <a:solidFill>
            <a:srgbClr val="EDF3FB"/>
          </a:solidFill>
          <a:ln/>
        </p:spPr>
      </p:sp>
      <p:sp>
        <p:nvSpPr>
          <p:cNvPr id="14" name="Text 12"/>
          <p:cNvSpPr/>
          <p:nvPr/>
        </p:nvSpPr>
        <p:spPr>
          <a:xfrm>
            <a:off x="9253728" y="1993392"/>
            <a:ext cx="2432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77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253728" y="288036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migraciones de BD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11091672" cy="2286000"/>
          </a:xfrm>
          <a:prstGeom prst="roundRect">
            <a:avLst>
              <a:gd name="adj" fmla="val 3600"/>
            </a:avLst>
          </a:prstGeom>
          <a:solidFill>
            <a:srgbClr val="0B2F5E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0690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cambió?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448056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versiones nacen del mismo código (v1.0.0) y divergieron a mediados de julio de 2026.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C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versión anterior solo hizo respaldos; la principal sumó 56 commits: agenda rediseñada, auditoría, permisos por rol, promociones, membresías con contrato, videos al paciente, baropodometría por sede y un refuerzo de seguridad.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INSIGNIA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Agenda, rediseñada por completo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12064" y="1746504"/>
            <a:ext cx="5422392" cy="3419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C">
                <a:alpha val="40000"/>
              </a:srgbClr>
            </a:outerShdw>
          </a:effectLst>
        </p:spPr>
      </p:sp>
      <p:pic>
        <p:nvPicPr>
          <p:cNvPr id="6" name="Image 0" descr="C:\Users\User\AppData\Local\Temp\claude\C--Users-User-Documents-Desarrollo-LimaBlue-Agenda-lb\6fb09147-029e-4371-b3e8-9a088b80b203\scratchpad\shots\agenda_antigu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5349240" cy="33467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09360" y="14813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5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72784" y="1746504"/>
            <a:ext cx="5422392" cy="3419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C">
                <a:alpha val="40000"/>
              </a:srgbClr>
            </a:outerShdw>
          </a:effectLst>
        </p:spPr>
      </p:sp>
      <p:pic>
        <p:nvPicPr>
          <p:cNvPr id="9" name="Image 1" descr="C:\Users\User\AppData\Local\Temp\claude\C--Users-User-Documents-Desarrollo-LimaBlue-Agenda-lb\6fb09147-029e-4371-b3e8-9a088b80b203\scratchpad\shots\agenda_nuev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783080"/>
            <a:ext cx="5349240" cy="33467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5349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con etiquetas · medias horas (9:30) · arrastrar y soltar · nueva cita en la misma agenda · estados de cita a color · anti-duplicidad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Módulos nuevos y ampliados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9584" cy="1481328"/>
          </a:xfrm>
          <a:prstGeom prst="roundRect">
            <a:avLst>
              <a:gd name="adj" fmla="val 4938"/>
            </a:avLst>
          </a:prstGeom>
          <a:solidFill>
            <a:srgbClr val="EDF3FB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911096"/>
            <a:ext cx="566928" cy="566928"/>
          </a:xfrm>
          <a:prstGeom prst="ellipse">
            <a:avLst/>
          </a:prstGeom>
          <a:solidFill>
            <a:srgbClr val="0057D9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11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81328" y="18928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81328" y="2203704"/>
            <a:ext cx="24323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hizo qué: usuario, acción, sede e IP. Antes/después.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4256" y="1691640"/>
            <a:ext cx="3529584" cy="1481328"/>
          </a:xfrm>
          <a:prstGeom prst="roundRect">
            <a:avLst>
              <a:gd name="adj" fmla="val 4938"/>
            </a:avLst>
          </a:prstGeom>
          <a:solidFill>
            <a:srgbClr val="EDF3FB"/>
          </a:solidFill>
          <a:ln/>
        </p:spPr>
      </p:sp>
      <p:sp>
        <p:nvSpPr>
          <p:cNvPr id="10" name="Shape 8"/>
          <p:cNvSpPr/>
          <p:nvPr/>
        </p:nvSpPr>
        <p:spPr>
          <a:xfrm>
            <a:off x="4535424" y="1911096"/>
            <a:ext cx="566928" cy="566928"/>
          </a:xfrm>
          <a:prstGeom prst="ellipse">
            <a:avLst/>
          </a:prstGeom>
          <a:solidFill>
            <a:srgbClr val="0B2F5E"/>
          </a:solidFill>
          <a:ln/>
        </p:spPr>
      </p:sp>
      <p:sp>
        <p:nvSpPr>
          <p:cNvPr id="11" name="Text 9"/>
          <p:cNvSpPr/>
          <p:nvPr/>
        </p:nvSpPr>
        <p:spPr>
          <a:xfrm>
            <a:off x="4535424" y="1911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66944" y="18928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y roles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266944" y="2203704"/>
            <a:ext cx="24323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por módulo y por URL, no solo visual.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19872" y="1691640"/>
            <a:ext cx="3529584" cy="1481328"/>
          </a:xfrm>
          <a:prstGeom prst="roundRect">
            <a:avLst>
              <a:gd name="adj" fmla="val 4938"/>
            </a:avLst>
          </a:prstGeom>
          <a:solidFill>
            <a:srgbClr val="EDF3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1911096"/>
            <a:ext cx="566928" cy="566928"/>
          </a:xfrm>
          <a:prstGeom prst="ellipse">
            <a:avLst/>
          </a:prstGeom>
          <a:solidFill>
            <a:srgbClr val="1E9E6A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911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052560" y="18928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Promociones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052560" y="2203704"/>
            <a:ext cx="24323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por servicio, sede, día, canal, cupo y código.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410712"/>
            <a:ext cx="3529584" cy="1481328"/>
          </a:xfrm>
          <a:prstGeom prst="roundRect">
            <a:avLst>
              <a:gd name="adj" fmla="val 4938"/>
            </a:avLst>
          </a:prstGeom>
          <a:solidFill>
            <a:srgbClr val="EDF3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" y="3630168"/>
            <a:ext cx="566928" cy="566928"/>
          </a:xfrm>
          <a:prstGeom prst="ellipse">
            <a:avLst/>
          </a:prstGeom>
          <a:solidFill>
            <a:srgbClr val="0057D9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630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81328" y="361188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Membresías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81328" y="3922776"/>
            <a:ext cx="24323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en PDF, cupos por ítem, “membresías vendidas”.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34256" y="3410712"/>
            <a:ext cx="3529584" cy="1481328"/>
          </a:xfrm>
          <a:prstGeom prst="roundRect">
            <a:avLst>
              <a:gd name="adj" fmla="val 4938"/>
            </a:avLst>
          </a:prstGeom>
          <a:solidFill>
            <a:srgbClr val="EDF3FB"/>
          </a:solidFill>
          <a:ln/>
        </p:spPr>
      </p:sp>
      <p:sp>
        <p:nvSpPr>
          <p:cNvPr id="25" name="Shape 23"/>
          <p:cNvSpPr/>
          <p:nvPr/>
        </p:nvSpPr>
        <p:spPr>
          <a:xfrm>
            <a:off x="4535424" y="3630168"/>
            <a:ext cx="566928" cy="566928"/>
          </a:xfrm>
          <a:prstGeom prst="ellipse">
            <a:avLst/>
          </a:prstGeom>
          <a:solidFill>
            <a:srgbClr val="0B2F5E"/>
          </a:solidFill>
          <a:ln/>
        </p:spPr>
      </p:sp>
      <p:sp>
        <p:nvSpPr>
          <p:cNvPr id="26" name="Text 24"/>
          <p:cNvSpPr/>
          <p:nvPr/>
        </p:nvSpPr>
        <p:spPr>
          <a:xfrm>
            <a:off x="4535424" y="3630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266944" y="361188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al paciente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266944" y="3922776"/>
            <a:ext cx="24323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Antes/durante/después, con baja voluntaria (opt-out).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19872" y="3410712"/>
            <a:ext cx="3529584" cy="1481328"/>
          </a:xfrm>
          <a:prstGeom prst="roundRect">
            <a:avLst>
              <a:gd name="adj" fmla="val 4938"/>
            </a:avLst>
          </a:prstGeom>
          <a:solidFill>
            <a:srgbClr val="EDF3FB"/>
          </a:solidFill>
          <a:ln/>
        </p:spPr>
      </p:sp>
      <p:sp>
        <p:nvSpPr>
          <p:cNvPr id="30" name="Shape 28"/>
          <p:cNvSpPr/>
          <p:nvPr/>
        </p:nvSpPr>
        <p:spPr>
          <a:xfrm>
            <a:off x="8321040" y="3630168"/>
            <a:ext cx="566928" cy="566928"/>
          </a:xfrm>
          <a:prstGeom prst="ellipse">
            <a:avLst/>
          </a:prstGeom>
          <a:solidFill>
            <a:srgbClr val="1E9E6A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3630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052560" y="361188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Baropodometría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052560" y="3922776"/>
            <a:ext cx="24323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por sede, filtros por sede/hora/especialista.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CORAZÓN DEL SISTEMA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Nueva Cita: más validaciones y reglas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Slot:  </a:t>
            </a:r>
            <a:pPr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pulsar un espacio libre “jala” profesional y hora al modal.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Promoción:  </a:t>
            </a:r>
            <a:pPr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ofrecen las que califican; nunca se combina con membresía.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Membresía:  </a:t>
            </a:r>
            <a:pPr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 por ítem (Premium ≠ Regular) reservado al agendar.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Turnos:  </a:t>
            </a:r>
            <a:pPr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que el profesional labore y que la cita no pase su turno.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Baropodometría:  </a:t>
            </a:r>
            <a:pPr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habilitado en la sede y máquina disponible.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Precio:  </a:t>
            </a:r>
            <a:pPr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lista, descuento y total final para caja.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64224" y="1883664"/>
            <a:ext cx="5285232" cy="3621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C">
                <a:alpha val="40000"/>
              </a:srgbClr>
            </a:outerShdw>
          </a:effectLst>
        </p:spPr>
      </p:sp>
      <p:pic>
        <p:nvPicPr>
          <p:cNvPr id="6" name="Image 0" descr="C:\Users\User\AppData\Local\Temp\claude\C--Users-User-Documents-Desarrollo-LimaBlue-Agenda-lb\6fb09147-029e-4371-b3e8-9a088b80b203\scratchpad\shots\m_detalle_cita_nuev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920240"/>
            <a:ext cx="5212080" cy="35478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 más rica y consulta de DNI ampliada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PeruDevs:  </a:t>
            </a:r>
            <a:pPr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consulta de DNI pasó de RENIEC básico (solo nombres) a PeruDevs, que trae además sexo y fecha de nacimiento.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Duplicados:  </a:t>
            </a:r>
            <a:pPr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si el paciente ya existe antes de guardar.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de alta:  </a:t>
            </a:r>
            <a:pPr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existía; ahora con edad automática y canal de captación.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Buscador:  </a:t>
            </a:r>
            <a:pPr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superior + modal con historial de citas del paciente.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Ficha:  </a:t>
            </a:r>
            <a:pPr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rediseñada; “Agendar cita” abre el modal con el paciente cargado.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64224" y="1883664"/>
            <a:ext cx="5285232" cy="3621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C">
                <a:alpha val="40000"/>
              </a:srgbClr>
            </a:outerShdw>
          </a:effectLst>
        </p:spPr>
      </p:sp>
      <p:pic>
        <p:nvPicPr>
          <p:cNvPr id="6" name="Image 0" descr="C:\Users\User\AppData\Local\Temp\claude\C--Users-User-Documents-Desarrollo-LimaBlue-Agenda-lb\6fb09147-029e-4371-b3e8-9a088b80b203\scratchpad\shots\m_nuevo_paciente_nuev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920240"/>
            <a:ext cx="5212080" cy="35478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Y PLANES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Promociones y membresías con reglas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de promo:  </a:t>
            </a:r>
            <a:pPr indent="0" marL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de servicios, sedes, canales y días; vigencia, cupón, cupo total y por paciente, “solo nuevos”.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aplican de verdad:  </a:t>
            </a:r>
            <a:pPr indent="0" marL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solo ofrece la promo que califica al agendar.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uso:  </a:t>
            </a:r>
            <a:pPr indent="0" marL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usos, descontado y facturado por promoción.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de membresía:  </a:t>
            </a:r>
            <a:pPr indent="0" marL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con marcadores de Nombre/DNI/Fecha arrastrables.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64224" y="1883664"/>
            <a:ext cx="5285232" cy="3621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C">
                <a:alpha val="40000"/>
              </a:srgbClr>
            </a:outerShdw>
          </a:effectLst>
        </p:spPr>
      </p:sp>
      <p:pic>
        <p:nvPicPr>
          <p:cNvPr id="6" name="Image 0" descr="C:\Users\User\AppData\Local\Temp\claude\C--Users-User-Documents-Desarrollo-LimaBlue-Agenda-lb\6fb09147-029e-4371-b3e8-9a088b80b203\scratchpad\shots\m_promo_editor_nuev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920240"/>
            <a:ext cx="5212080" cy="35478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 implementados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9584" cy="1481328"/>
          </a:xfrm>
          <a:prstGeom prst="roundRect">
            <a:avLst>
              <a:gd name="adj" fmla="val 4938"/>
            </a:avLst>
          </a:prstGeom>
          <a:solidFill>
            <a:srgbClr val="EDF3FB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911096"/>
            <a:ext cx="566928" cy="566928"/>
          </a:xfrm>
          <a:prstGeom prst="ellipse">
            <a:avLst/>
          </a:prstGeom>
          <a:solidFill>
            <a:srgbClr val="0B2F5E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11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81328" y="18928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81328" y="2203704"/>
            <a:ext cx="24323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(costo 12), JWT, revocación inmediata por BD.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4256" y="1691640"/>
            <a:ext cx="3529584" cy="1481328"/>
          </a:xfrm>
          <a:prstGeom prst="roundRect">
            <a:avLst>
              <a:gd name="adj" fmla="val 4938"/>
            </a:avLst>
          </a:prstGeom>
          <a:solidFill>
            <a:srgbClr val="EDF3FB"/>
          </a:solidFill>
          <a:ln/>
        </p:spPr>
      </p:sp>
      <p:sp>
        <p:nvSpPr>
          <p:cNvPr id="10" name="Shape 8"/>
          <p:cNvSpPr/>
          <p:nvPr/>
        </p:nvSpPr>
        <p:spPr>
          <a:xfrm>
            <a:off x="4535424" y="1911096"/>
            <a:ext cx="566928" cy="566928"/>
          </a:xfrm>
          <a:prstGeom prst="ellipse">
            <a:avLst/>
          </a:prstGeom>
          <a:solidFill>
            <a:srgbClr val="0057D9"/>
          </a:solidFill>
          <a:ln/>
        </p:spPr>
      </p:sp>
      <p:sp>
        <p:nvSpPr>
          <p:cNvPr id="11" name="Text 9"/>
          <p:cNvSpPr/>
          <p:nvPr/>
        </p:nvSpPr>
        <p:spPr>
          <a:xfrm>
            <a:off x="4535424" y="1911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66944" y="18928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266944" y="2203704"/>
            <a:ext cx="24323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+ 18 permisos por módulo, validados en servidor.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19872" y="1691640"/>
            <a:ext cx="3529584" cy="1481328"/>
          </a:xfrm>
          <a:prstGeom prst="roundRect">
            <a:avLst>
              <a:gd name="adj" fmla="val 4938"/>
            </a:avLst>
          </a:prstGeom>
          <a:solidFill>
            <a:srgbClr val="EDF3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1911096"/>
            <a:ext cx="566928" cy="566928"/>
          </a:xfrm>
          <a:prstGeom prst="ellipse">
            <a:avLst/>
          </a:prstGeom>
          <a:solidFill>
            <a:srgbClr val="C77700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911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052560" y="18928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052560" y="2203704"/>
            <a:ext cx="24323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5/15min y DNI 30/15min por IP (anti fuerza bruta).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410712"/>
            <a:ext cx="3529584" cy="1481328"/>
          </a:xfrm>
          <a:prstGeom prst="roundRect">
            <a:avLst>
              <a:gd name="adj" fmla="val 4938"/>
            </a:avLst>
          </a:prstGeom>
          <a:solidFill>
            <a:srgbClr val="EDF3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" y="3630168"/>
            <a:ext cx="566928" cy="566928"/>
          </a:xfrm>
          <a:prstGeom prst="ellipse">
            <a:avLst/>
          </a:prstGeom>
          <a:solidFill>
            <a:srgbClr val="1E9E6A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630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81328" y="361188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Anti-inyección SQL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81328" y="3922776"/>
            <a:ext cx="24323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parametrizado + guardrail que rompe el build.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34256" y="3410712"/>
            <a:ext cx="3529584" cy="1481328"/>
          </a:xfrm>
          <a:prstGeom prst="roundRect">
            <a:avLst>
              <a:gd name="adj" fmla="val 4938"/>
            </a:avLst>
          </a:prstGeom>
          <a:solidFill>
            <a:srgbClr val="EDF3FB"/>
          </a:solidFill>
          <a:ln/>
        </p:spPr>
      </p:sp>
      <p:sp>
        <p:nvSpPr>
          <p:cNvPr id="25" name="Shape 23"/>
          <p:cNvSpPr/>
          <p:nvPr/>
        </p:nvSpPr>
        <p:spPr>
          <a:xfrm>
            <a:off x="4535424" y="3630168"/>
            <a:ext cx="566928" cy="566928"/>
          </a:xfrm>
          <a:prstGeom prst="ellipse">
            <a:avLst/>
          </a:prstGeom>
          <a:solidFill>
            <a:srgbClr val="0057D9"/>
          </a:solidFill>
          <a:ln/>
        </p:spPr>
      </p:sp>
      <p:sp>
        <p:nvSpPr>
          <p:cNvPr id="26" name="Text 24"/>
          <p:cNvSpPr/>
          <p:nvPr/>
        </p:nvSpPr>
        <p:spPr>
          <a:xfrm>
            <a:off x="4535424" y="3630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266944" y="361188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Firmas y tokens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266944" y="3922776"/>
            <a:ext cx="24323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firmados; enlaces de correo con secreto propio.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19872" y="3410712"/>
            <a:ext cx="3529584" cy="1481328"/>
          </a:xfrm>
          <a:prstGeom prst="roundRect">
            <a:avLst>
              <a:gd name="adj" fmla="val 4938"/>
            </a:avLst>
          </a:prstGeom>
          <a:solidFill>
            <a:srgbClr val="EDF3FB"/>
          </a:solidFill>
          <a:ln/>
        </p:spPr>
      </p:sp>
      <p:sp>
        <p:nvSpPr>
          <p:cNvPr id="30" name="Shape 28"/>
          <p:cNvSpPr/>
          <p:nvPr/>
        </p:nvSpPr>
        <p:spPr>
          <a:xfrm>
            <a:off x="8321040" y="3630168"/>
            <a:ext cx="566928" cy="566928"/>
          </a:xfrm>
          <a:prstGeom prst="ellipse">
            <a:avLst/>
          </a:prstGeom>
          <a:solidFill>
            <a:srgbClr val="0B2F5E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3630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052560" y="361188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052560" y="3922776"/>
            <a:ext cx="24323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en el backend, fuera de git; frontend sin secretos.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Anti-doble-reserva: tres barreras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9584" cy="3108960"/>
          </a:xfrm>
          <a:prstGeom prst="roundRect">
            <a:avLst>
              <a:gd name="adj" fmla="val 2941"/>
            </a:avLst>
          </a:prstGeom>
          <a:solidFill>
            <a:srgbClr val="0E2A52"/>
          </a:solidFill>
          <a:ln w="12700">
            <a:solidFill>
              <a:srgbClr val="1B4A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01952" y="2286000"/>
            <a:ext cx="822960" cy="822960"/>
          </a:xfrm>
          <a:prstGeom prst="ellipse">
            <a:avLst/>
          </a:prstGeom>
          <a:solidFill>
            <a:srgbClr val="0057D9"/>
          </a:solidFill>
          <a:ln/>
        </p:spPr>
      </p:sp>
      <p:sp>
        <p:nvSpPr>
          <p:cNvPr id="6" name="Text 4"/>
          <p:cNvSpPr/>
          <p:nvPr/>
        </p:nvSpPr>
        <p:spPr>
          <a:xfrm>
            <a:off x="1901952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en Redis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72" y="3840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Cerrojo por slot (SET NX, 30 s) antes de escribir. Bloquea reservas simultáneas.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34256" y="1920240"/>
            <a:ext cx="3529584" cy="3108960"/>
          </a:xfrm>
          <a:prstGeom prst="roundRect">
            <a:avLst>
              <a:gd name="adj" fmla="val 2941"/>
            </a:avLst>
          </a:prstGeom>
          <a:solidFill>
            <a:srgbClr val="0E2A52"/>
          </a:solidFill>
          <a:ln w="12700">
            <a:solidFill>
              <a:srgbClr val="1B4A8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87568" y="2286000"/>
            <a:ext cx="822960" cy="822960"/>
          </a:xfrm>
          <a:prstGeom prst="ellipse">
            <a:avLst/>
          </a:prstGeom>
          <a:solidFill>
            <a:srgbClr val="0057D9"/>
          </a:solidFill>
          <a:ln/>
        </p:spPr>
      </p:sp>
      <p:sp>
        <p:nvSpPr>
          <p:cNvPr id="11" name="Text 9"/>
          <p:cNvSpPr/>
          <p:nvPr/>
        </p:nvSpPr>
        <p:spPr>
          <a:xfrm>
            <a:off x="5687568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17136" y="333756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90288" y="3840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únicos parciales: dos citas en el mismo espacio chocan a nivel BD. Imposible por carrera.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9872" y="1920240"/>
            <a:ext cx="3529584" cy="3108960"/>
          </a:xfrm>
          <a:prstGeom prst="roundRect">
            <a:avLst>
              <a:gd name="adj" fmla="val 2941"/>
            </a:avLst>
          </a:prstGeom>
          <a:solidFill>
            <a:srgbClr val="0E2A52"/>
          </a:solidFill>
          <a:ln w="12700">
            <a:solidFill>
              <a:srgbClr val="1B4A8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73184" y="2286000"/>
            <a:ext cx="822960" cy="822960"/>
          </a:xfrm>
          <a:prstGeom prst="ellipse">
            <a:avLst/>
          </a:prstGeom>
          <a:solidFill>
            <a:srgbClr val="0057D9"/>
          </a:solidFill>
          <a:ln/>
        </p:spPr>
      </p:sp>
      <p:sp>
        <p:nvSpPr>
          <p:cNvPr id="16" name="Text 14"/>
          <p:cNvSpPr/>
          <p:nvPr/>
        </p:nvSpPr>
        <p:spPr>
          <a:xfrm>
            <a:off x="9473184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302752" y="333756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Idempotencia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75904" y="3840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cabecera Idempotency-Key evita duplicar la misma cita ante reintentos.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394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9D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Además: transacción Serializable con reintento ante bloqueos. Resultado: es imposible reservar dos veces el mismo espacio.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migraciones nuevas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4767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0B2F5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476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jul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48840" y="1783080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transversal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0" y="1783080"/>
            <a:ext cx="5212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 “creadoPor” en 25+ tablas.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EDF3FB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843784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0B2F5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437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ago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48840" y="2679192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Baropodometría por sede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17920" y="2679192"/>
            <a:ext cx="5212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tabla médico ↔ sede.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575304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739896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0B2F5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73989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ago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48840" y="3575304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Videos: veces enviado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3575304"/>
            <a:ext cx="5212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envíos y envío manual.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471416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EDF3FB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636008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0B2F5E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6360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ago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48840" y="4471416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de membresía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17920" y="4471416"/>
            <a:ext cx="5212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PDF y datos del cliente.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367528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53212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0B2F5E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532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ago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148840" y="5367528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Promociones con reglas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17920" y="5367528"/>
            <a:ext cx="5212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+ precio/descuento en la cita.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7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Puntos a reforzar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análisis surgen mejoras recomendables; no invalidan las protecciones actuales.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1064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en el backend:  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forzar que cada usuario solo consulte datos de sus sedes (hoy la restricción es del frontend).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 al crear cita:  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exigir el permiso de agenda en POST /citas.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a XSS:  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CSP y evaluar cookie httpOnly para el token.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real:  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autenticar la conexión de Socket.io.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Archivos:  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/uploads (comprobantes) tras autenticación.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Escala:  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en Redis y auditar también logins fallidos.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572000" cy="4572000"/>
          </a:xfrm>
          <a:prstGeom prst="ellipse">
            <a:avLst/>
          </a:prstGeom>
          <a:solidFill>
            <a:srgbClr val="0E2A5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920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frase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reemplazar un ERP a una plataforma con auditoría, control de accesos, marketing y seguridad reforzada.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5852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Limablue Agenda · Informe de Cambios y Seguridad · 10 de agosto de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2026-08-11T15:39:40Z</dcterms:created>
  <dcterms:modified xsi:type="dcterms:W3CDTF">2026-08-11T15:39:40Z</dcterms:modified>
</cp:coreProperties>
</file>